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1" r:id="rId1"/>
  </p:sldMasterIdLst>
  <p:notesMasterIdLst>
    <p:notesMasterId r:id="rId26"/>
  </p:notesMasterIdLst>
  <p:sldIdLst>
    <p:sldId id="281" r:id="rId2"/>
    <p:sldId id="267" r:id="rId3"/>
    <p:sldId id="257" r:id="rId4"/>
    <p:sldId id="258" r:id="rId5"/>
    <p:sldId id="262" r:id="rId6"/>
    <p:sldId id="269" r:id="rId7"/>
    <p:sldId id="270" r:id="rId8"/>
    <p:sldId id="271" r:id="rId9"/>
    <p:sldId id="286" r:id="rId10"/>
    <p:sldId id="272" r:id="rId11"/>
    <p:sldId id="285" r:id="rId12"/>
    <p:sldId id="273" r:id="rId13"/>
    <p:sldId id="274" r:id="rId14"/>
    <p:sldId id="287" r:id="rId15"/>
    <p:sldId id="284" r:id="rId16"/>
    <p:sldId id="275" r:id="rId17"/>
    <p:sldId id="288" r:id="rId18"/>
    <p:sldId id="276" r:id="rId19"/>
    <p:sldId id="277" r:id="rId20"/>
    <p:sldId id="278" r:id="rId21"/>
    <p:sldId id="279" r:id="rId22"/>
    <p:sldId id="280" r:id="rId23"/>
    <p:sldId id="282" r:id="rId24"/>
    <p:sldId id="268" r:id="rId2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118" autoAdjust="0"/>
    <p:restoredTop sz="94660"/>
  </p:normalViewPr>
  <p:slideViewPr>
    <p:cSldViewPr snapToGrid="0">
      <p:cViewPr varScale="1">
        <p:scale>
          <a:sx n="73" d="100"/>
          <a:sy n="73" d="100"/>
        </p:scale>
        <p:origin x="-660"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859EF5A-897B-4E7A-8987-72E0BA270BA5}" type="datetimeFigureOut">
              <a:rPr lang="en-US"/>
              <a:pPr>
                <a:defRPr/>
              </a:pPr>
              <a:t>3/12/2025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2906111-89A0-43B7-ADC8-DA25A439EE4A}" type="slidenum">
              <a:rPr lang="en-US"/>
              <a:pPr>
                <a:defRPr/>
              </a:pPr>
              <a:t>‹#›</a:t>
            </a:fld>
            <a:endParaRPr lang="en-US"/>
          </a:p>
        </p:txBody>
      </p:sp>
    </p:spTree>
    <p:extLst>
      <p:ext uri="{BB962C8B-B14F-4D97-AF65-F5344CB8AC3E}">
        <p14:creationId xmlns:p14="http://schemas.microsoft.com/office/powerpoint/2010/main" xmlns="" val="22679269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43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3858CDF-14E0-4CE0-A79D-B000CC5FC8B9}" type="slidenum">
              <a:rPr lang="en-US" smtClean="0"/>
              <a:pPr fontAlgn="base">
                <a:spcBef>
                  <a:spcPct val="0"/>
                </a:spcBef>
                <a:spcAft>
                  <a:spcPct val="0"/>
                </a:spcAft>
                <a:defRPr/>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3D197A7-0BB3-4533-ADED-34555E488C9A}" type="datetime1">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43DB150C-4E42-4732-B852-F3E2657F504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E959592-D7B5-495C-9D3E-4FF4A78EC3F3}" type="datetime1">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81778C72-80D4-44C2-A5C0-B833B330A20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8EA45C4-0041-4BED-9116-B3AFB076AE55}" type="datetime1">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A39FF9DD-F899-4DD8-AEC9-E68D1485F8D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0BFCB0D-C287-47C9-884D-992C3D648771}" type="datetime1">
              <a:rPr lang="en-US"/>
              <a:pPr>
                <a:defRPr/>
              </a:pPr>
              <a:t>3/12/2025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B9907319-E605-4C82-8804-679D4188845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BBF02D5-F3FC-4A67-9A69-BE8185B4A293}" type="datetime1">
              <a:rPr lang="en-US"/>
              <a:pPr>
                <a:defRPr/>
              </a:pPr>
              <a:t>3/12/2025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Dept. of CSE, SJCIT</a:t>
            </a:r>
          </a:p>
        </p:txBody>
      </p:sp>
      <p:sp>
        <p:nvSpPr>
          <p:cNvPr id="9" name="Slide Number Placeholder 5"/>
          <p:cNvSpPr>
            <a:spLocks noGrp="1"/>
          </p:cNvSpPr>
          <p:nvPr>
            <p:ph type="sldNum" sz="quarter" idx="12"/>
          </p:nvPr>
        </p:nvSpPr>
        <p:spPr/>
        <p:txBody>
          <a:bodyPr/>
          <a:lstStyle>
            <a:lvl1pPr>
              <a:defRPr/>
            </a:lvl1pPr>
          </a:lstStyle>
          <a:p>
            <a:pPr>
              <a:defRPr/>
            </a:pPr>
            <a:fld id="{A74AB872-5383-48F3-995F-18EDF236200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BBB8EE9-607A-457A-8B2A-B3AF2D4C6A81}" type="datetime1">
              <a:rPr lang="en-US"/>
              <a:pPr>
                <a:defRPr/>
              </a:pPr>
              <a:t>3/12/2025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Dept. of CSE, SJCIT</a:t>
            </a:r>
          </a:p>
        </p:txBody>
      </p:sp>
      <p:sp>
        <p:nvSpPr>
          <p:cNvPr id="5" name="Slide Number Placeholder 5"/>
          <p:cNvSpPr>
            <a:spLocks noGrp="1"/>
          </p:cNvSpPr>
          <p:nvPr>
            <p:ph type="sldNum" sz="quarter" idx="12"/>
          </p:nvPr>
        </p:nvSpPr>
        <p:spPr/>
        <p:txBody>
          <a:bodyPr/>
          <a:lstStyle>
            <a:lvl1pPr>
              <a:defRPr/>
            </a:lvl1pPr>
          </a:lstStyle>
          <a:p>
            <a:pPr>
              <a:defRPr/>
            </a:pPr>
            <a:fld id="{9DD35C92-ACCB-447D-B829-D51BBBFE6EF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6FADFB0-2F8C-415B-8838-7A44004B50D2}" type="datetime1">
              <a:rPr lang="en-US"/>
              <a:pPr>
                <a:defRPr/>
              </a:pPr>
              <a:t>3/12/2025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Dept. of CSE, SJCIT</a:t>
            </a:r>
          </a:p>
        </p:txBody>
      </p:sp>
      <p:sp>
        <p:nvSpPr>
          <p:cNvPr id="4" name="Slide Number Placeholder 5"/>
          <p:cNvSpPr>
            <a:spLocks noGrp="1"/>
          </p:cNvSpPr>
          <p:nvPr>
            <p:ph type="sldNum" sz="quarter" idx="12"/>
          </p:nvPr>
        </p:nvSpPr>
        <p:spPr/>
        <p:txBody>
          <a:bodyPr/>
          <a:lstStyle>
            <a:lvl1pPr>
              <a:defRPr/>
            </a:lvl1pPr>
          </a:lstStyle>
          <a:p>
            <a:pPr>
              <a:defRPr/>
            </a:pPr>
            <a:fld id="{49523D1E-D3B1-4E89-BB26-D8075D63C34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D78CD27-FD07-4521-BC56-A72D7C3EF988}" type="datetime1">
              <a:rPr lang="en-US"/>
              <a:pPr>
                <a:defRPr/>
              </a:pPr>
              <a:t>3/12/2025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BB162F6F-03AC-4078-AA59-519032B66C8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9C91DD7-C648-4E6B-89F1-83D0CF2CFB64}" type="datetime1">
              <a:rPr lang="en-US"/>
              <a:pPr>
                <a:defRPr/>
              </a:pPr>
              <a:t>3/12/2025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9654373D-11C6-450E-B824-71FBCFB2225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441531C-55B3-43A3-94F0-A014F2014A08}" type="datetime1">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E5D10FFB-B723-47FA-AE94-2E99EB6648E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AB64823-3F3A-4375-BE64-3E7502D310D5}" type="datetime1">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4AE3F581-0D82-4287-82E1-346AE1C0151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0"/>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BAD26758-FD56-4D80-8060-A71EAB9C0856}" type="datetime1">
              <a:rPr lang="en-US"/>
              <a:pPr>
                <a:defRPr/>
              </a:pPr>
              <a:t>3/12/2025</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Dept. of CSE, SJCIT</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93DA94D-2222-4437-96EC-3C570EFD98C1}" type="slidenum">
              <a:rPr lang="en-US"/>
              <a:pPr>
                <a:defRPr/>
              </a:pPr>
              <a:t>‹#›</a:t>
            </a:fld>
            <a:endParaRPr lang="en-US"/>
          </a:p>
        </p:txBody>
      </p:sp>
      <p:pic>
        <p:nvPicPr>
          <p:cNvPr id="1031" name="Picture 6"/>
          <p:cNvPicPr>
            <a:picLocks noChangeAspect="1"/>
          </p:cNvPicPr>
          <p:nvPr userDrawn="1"/>
        </p:nvPicPr>
        <p:blipFill>
          <a:blip r:embed="rId13"/>
          <a:srcRect/>
          <a:stretch>
            <a:fillRect/>
          </a:stretch>
        </p:blipFill>
        <p:spPr bwMode="auto">
          <a:xfrm>
            <a:off x="10747375" y="0"/>
            <a:ext cx="1444625" cy="11239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96863" y="1541100"/>
            <a:ext cx="10920123" cy="4913312"/>
          </a:xfrm>
        </p:spPr>
        <p:txBody>
          <a:bodyPr rtlCol="0">
            <a:normAutofit/>
          </a:bodyPr>
          <a:lstStyle/>
          <a:p>
            <a:pPr eaLnBrk="1" fontAlgn="auto" hangingPunct="1">
              <a:spcAft>
                <a:spcPts val="0"/>
              </a:spcAft>
              <a:buFont typeface="Arial" pitchFamily="34" charset="0"/>
              <a:buNone/>
              <a:defRPr/>
            </a:pPr>
            <a:r>
              <a:rPr lang="en-US" sz="2400" dirty="0">
                <a:latin typeface="Times New Roman" pitchFamily="18" charset="0"/>
                <a:cs typeface="Times New Roman" pitchFamily="18" charset="0"/>
              </a:rPr>
              <a:t>The Project work </a:t>
            </a:r>
          </a:p>
          <a:p>
            <a:pPr eaLnBrk="1" fontAlgn="auto" hangingPunct="1">
              <a:spcAft>
                <a:spcPts val="0"/>
              </a:spcAft>
              <a:buFont typeface="Arial" pitchFamily="34" charset="0"/>
              <a:buNone/>
              <a:defRPr/>
            </a:pPr>
            <a:r>
              <a:rPr lang="en-US" sz="2400" dirty="0">
                <a:latin typeface="Times New Roman" pitchFamily="18" charset="0"/>
                <a:cs typeface="Times New Roman" pitchFamily="18" charset="0"/>
              </a:rPr>
              <a:t> On       </a:t>
            </a:r>
          </a:p>
          <a:p>
            <a:pPr eaLnBrk="1" fontAlgn="auto" hangingPunct="1">
              <a:spcAft>
                <a:spcPts val="0"/>
              </a:spcAft>
              <a:buFont typeface="Arial" pitchFamily="34" charset="0"/>
              <a:buNone/>
              <a:defRPr/>
            </a:pPr>
            <a:r>
              <a:rPr lang="en-US" dirty="0">
                <a:solidFill>
                  <a:schemeClr val="accent1">
                    <a:lumMod val="75000"/>
                  </a:schemeClr>
                </a:solidFill>
                <a:latin typeface="Times New Roman" panose="02020603050405020304" pitchFamily="18" charset="0"/>
                <a:cs typeface="Times New Roman" panose="02020603050405020304" pitchFamily="18" charset="0"/>
              </a:rPr>
              <a:t>“</a:t>
            </a:r>
            <a:r>
              <a:rPr lang="en-US" b="1" dirty="0">
                <a:solidFill>
                  <a:srgbClr val="FF0000"/>
                </a:solidFill>
                <a:latin typeface="Times New Roman" panose="02020603050405020304" pitchFamily="18" charset="0"/>
                <a:cs typeface="Times New Roman" panose="02020603050405020304" pitchFamily="18" charset="0"/>
              </a:rPr>
              <a:t>Building Firewall for IoT devices</a:t>
            </a:r>
            <a:r>
              <a:rPr lang="en-US" dirty="0">
                <a:solidFill>
                  <a:schemeClr val="accent1">
                    <a:lumMod val="75000"/>
                  </a:schemeClr>
                </a:solidFill>
                <a:latin typeface="Times New Roman" panose="02020603050405020304" pitchFamily="18" charset="0"/>
                <a:cs typeface="Times New Roman" panose="02020603050405020304" pitchFamily="18" charset="0"/>
              </a:rPr>
              <a:t>”</a:t>
            </a:r>
          </a:p>
          <a:p>
            <a:pPr eaLnBrk="1" fontAlgn="auto" hangingPunct="1">
              <a:spcAft>
                <a:spcPts val="0"/>
              </a:spcAft>
              <a:buFont typeface="Arial" pitchFamily="34" charset="0"/>
              <a:buNone/>
              <a:defRPr/>
            </a:pPr>
            <a:r>
              <a:rPr lang="en-US" sz="2000" dirty="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PRESENTED BY</a:t>
            </a:r>
          </a:p>
          <a:p>
            <a:pPr eaLnBrk="1" fontAlgn="auto" hangingPunct="1">
              <a:spcAft>
                <a:spcPts val="0"/>
              </a:spcAft>
              <a:buFont typeface="Arial" pitchFamily="34" charset="0"/>
              <a:buNone/>
              <a:defRPr/>
            </a:pPr>
            <a:r>
              <a:rPr lang="en-US" sz="2000" dirty="0">
                <a:solidFill>
                  <a:srgbClr val="002060"/>
                </a:solidFill>
                <a:latin typeface="Times New Roman" panose="02020603050405020304" pitchFamily="18" charset="0"/>
                <a:cs typeface="Times New Roman" panose="02020603050405020304" pitchFamily="18" charset="0"/>
              </a:rPr>
              <a:t> Shaik Al Kashifah                                     1SJ21CS188                         </a:t>
            </a:r>
          </a:p>
          <a:p>
            <a:pPr eaLnBrk="1" fontAlgn="auto" hangingPunct="1">
              <a:spcAft>
                <a:spcPts val="0"/>
              </a:spcAft>
              <a:buFont typeface="Arial" pitchFamily="34" charset="0"/>
              <a:buNone/>
              <a:defRPr/>
            </a:pPr>
            <a:r>
              <a:rPr lang="en-US" sz="2000" dirty="0">
                <a:solidFill>
                  <a:srgbClr val="002060"/>
                </a:solidFill>
                <a:latin typeface="Times New Roman" panose="02020603050405020304" pitchFamily="18" charset="0"/>
                <a:cs typeface="Times New Roman" panose="02020603050405020304" pitchFamily="18" charset="0"/>
              </a:rPr>
              <a:t> Keerthana R                                              1SJ22CS403                   </a:t>
            </a:r>
          </a:p>
          <a:p>
            <a:pPr eaLnBrk="1" fontAlgn="auto" hangingPunct="1">
              <a:spcAft>
                <a:spcPts val="0"/>
              </a:spcAft>
              <a:buFont typeface="Arial" pitchFamily="34" charset="0"/>
              <a:buNone/>
              <a:defRPr/>
            </a:pPr>
            <a:endParaRPr lang="en-US" sz="2000" b="1" dirty="0">
              <a:solidFill>
                <a:schemeClr val="tx1"/>
              </a:solidFill>
              <a:latin typeface="Times New Roman" panose="02020603050405020304" pitchFamily="18" charset="0"/>
              <a:cs typeface="Times New Roman" panose="02020603050405020304" pitchFamily="18" charset="0"/>
            </a:endParaRPr>
          </a:p>
          <a:p>
            <a:pPr eaLnBrk="1" fontAlgn="auto" hangingPunct="1">
              <a:spcAft>
                <a:spcPts val="0"/>
              </a:spcAft>
              <a:buFont typeface="Arial" pitchFamily="34" charset="0"/>
              <a:buNone/>
              <a:defRPr/>
            </a:pPr>
            <a:r>
              <a:rPr lang="en-US" sz="2000" b="1" dirty="0">
                <a:solidFill>
                  <a:schemeClr val="tx1"/>
                </a:solidFill>
                <a:latin typeface="Times New Roman" panose="02020603050405020304" pitchFamily="18" charset="0"/>
                <a:cs typeface="Times New Roman" panose="02020603050405020304" pitchFamily="18" charset="0"/>
              </a:rPr>
              <a:t>UNDER THE GUIDANCE OF  </a:t>
            </a:r>
          </a:p>
          <a:p>
            <a:pPr eaLnBrk="1" fontAlgn="auto" hangingPunct="1">
              <a:spcAft>
                <a:spcPts val="0"/>
              </a:spcAft>
              <a:buFont typeface="Arial" pitchFamily="34" charset="0"/>
              <a:buNone/>
              <a:defRPr/>
            </a:pPr>
            <a:r>
              <a:rPr lang="en-US" sz="2000" dirty="0">
                <a:solidFill>
                  <a:srgbClr val="000099"/>
                </a:solidFill>
                <a:latin typeface="Times New Roman" panose="02020603050405020304" pitchFamily="18" charset="0"/>
                <a:ea typeface="Times New Roman" panose="02020603050405020304" pitchFamily="18" charset="0"/>
              </a:rPr>
              <a:t>Prof. Girish B </a:t>
            </a:r>
            <a:r>
              <a:rPr lang="en-US" sz="2000" i="1" dirty="0">
                <a:solidFill>
                  <a:srgbClr val="000099"/>
                </a:solidFill>
                <a:latin typeface="Times New Roman" panose="02020603050405020304" pitchFamily="18" charset="0"/>
                <a:ea typeface="Times New Roman" panose="02020603050405020304" pitchFamily="18" charset="0"/>
              </a:rPr>
              <a:t>G</a:t>
            </a:r>
          </a:p>
          <a:p>
            <a:pPr eaLnBrk="1" fontAlgn="auto" hangingPunct="1">
              <a:spcAft>
                <a:spcPts val="0"/>
              </a:spcAft>
              <a:defRPr/>
            </a:pPr>
            <a:r>
              <a:rPr lang="en-US" sz="2000" dirty="0">
                <a:solidFill>
                  <a:srgbClr val="000099"/>
                </a:solidFill>
                <a:latin typeface="Times New Roman" panose="02020603050405020304" pitchFamily="18" charset="0"/>
                <a:ea typeface="Times New Roman" panose="02020603050405020304" pitchFamily="18" charset="0"/>
              </a:rPr>
              <a:t>                                          Assistant Professor</a:t>
            </a:r>
            <a:r>
              <a:rPr lang="en-US" sz="2000" dirty="0">
                <a:solidFill>
                  <a:srgbClr val="000099"/>
                </a:solidFill>
                <a:latin typeface="Times New Roman" panose="02020603050405020304" pitchFamily="18" charset="0"/>
                <a:cs typeface="Times New Roman" panose="02020603050405020304" pitchFamily="18" charset="0"/>
              </a:rPr>
              <a:t> 	      		</a:t>
            </a:r>
          </a:p>
          <a:p>
            <a:pPr eaLnBrk="1" fontAlgn="auto" hangingPunct="1">
              <a:spcAft>
                <a:spcPts val="0"/>
              </a:spcAft>
              <a:defRPr/>
            </a:pPr>
            <a:r>
              <a:rPr lang="en-US" sz="1800" dirty="0">
                <a:solidFill>
                  <a:srgbClr val="000099"/>
                </a:solidFill>
                <a:latin typeface="Times New Roman" panose="02020603050405020304" pitchFamily="18" charset="0"/>
                <a:cs typeface="Times New Roman" panose="02020603050405020304" pitchFamily="18" charset="0"/>
              </a:rPr>
              <a:t>Dept. of CSE,SJCIT</a:t>
            </a:r>
          </a:p>
        </p:txBody>
      </p:sp>
      <p:pic>
        <p:nvPicPr>
          <p:cNvPr id="4" name="Picture 3" descr="C:\Users\IT LAB7\Downloads\WhatsApp Image 2024-11-25 at 12.43.26 PM.jpeg"/>
          <p:cNvPicPr/>
          <p:nvPr/>
        </p:nvPicPr>
        <p:blipFill>
          <a:blip r:embed="rId2">
            <a:extLst>
              <a:ext uri="{28A0092B-C50C-407E-A947-70E740481C1C}">
                <a14:useLocalDpi xmlns:a14="http://schemas.microsoft.com/office/drawing/2010/main" xmlns="" val="0"/>
              </a:ext>
            </a:extLst>
          </a:blip>
          <a:srcRect/>
          <a:stretch>
            <a:fillRect/>
          </a:stretch>
        </p:blipFill>
        <p:spPr bwMode="auto">
          <a:xfrm>
            <a:off x="1153390" y="110547"/>
            <a:ext cx="9455727" cy="1292226"/>
          </a:xfrm>
          <a:prstGeom prst="rect">
            <a:avLst/>
          </a:prstGeom>
          <a:noFill/>
          <a:ln>
            <a:noFill/>
          </a:ln>
        </p:spPr>
      </p:pic>
      <p:sp>
        <p:nvSpPr>
          <p:cNvPr id="5" name="Rectangle 4"/>
          <p:cNvSpPr/>
          <p:nvPr/>
        </p:nvSpPr>
        <p:spPr>
          <a:xfrm>
            <a:off x="10713027" y="0"/>
            <a:ext cx="1478973" cy="1184564"/>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609600" y="149469"/>
            <a:ext cx="10972800" cy="931985"/>
          </a:xfrm>
        </p:spPr>
        <p:txBody>
          <a:bodyPr/>
          <a:lstStyle/>
          <a:p>
            <a:pPr eaLnBrk="1" hangingPunct="1"/>
            <a:r>
              <a:rPr lang="en-US" sz="3200" b="1" dirty="0">
                <a:latin typeface="Times New Roman" pitchFamily="18" charset="0"/>
                <a:cs typeface="Times New Roman" pitchFamily="18" charset="0"/>
              </a:rPr>
              <a:t>CONTENTS</a:t>
            </a:r>
          </a:p>
        </p:txBody>
      </p:sp>
      <p:sp>
        <p:nvSpPr>
          <p:cNvPr id="3075" name="Content Placeholder 2"/>
          <p:cNvSpPr>
            <a:spLocks noGrp="1"/>
          </p:cNvSpPr>
          <p:nvPr>
            <p:ph idx="1"/>
          </p:nvPr>
        </p:nvSpPr>
        <p:spPr>
          <a:xfrm>
            <a:off x="904009" y="809898"/>
            <a:ext cx="10149754" cy="5601414"/>
          </a:xfrm>
        </p:spPr>
        <p:txBody>
          <a:bodyPr/>
          <a:lstStyle/>
          <a:p>
            <a:pPr marL="0" indent="0" eaLnBrk="1" hangingPunct="1">
              <a:buFont typeface="Arial" charset="0"/>
              <a:buNone/>
            </a:pPr>
            <a:r>
              <a:rPr lang="en-US" sz="2000" dirty="0">
                <a:latin typeface="Times New Roman" pitchFamily="18" charset="0"/>
                <a:cs typeface="Times New Roman" pitchFamily="18" charset="0"/>
              </a:rPr>
              <a:t>I. ABSTRACT</a:t>
            </a:r>
          </a:p>
          <a:p>
            <a:pPr marL="0" indent="0" eaLnBrk="1" hangingPunct="1">
              <a:buFont typeface="Arial" charset="0"/>
              <a:buNone/>
            </a:pPr>
            <a:r>
              <a:rPr lang="en-US" sz="2000" dirty="0">
                <a:latin typeface="Times New Roman" pitchFamily="18" charset="0"/>
                <a:cs typeface="Times New Roman" pitchFamily="18" charset="0"/>
              </a:rPr>
              <a:t>II. INTRODUCTION</a:t>
            </a:r>
          </a:p>
          <a:p>
            <a:pPr marL="0" indent="0" eaLnBrk="1" hangingPunct="1">
              <a:buFont typeface="Arial" charset="0"/>
              <a:buNone/>
            </a:pPr>
            <a:r>
              <a:rPr lang="en-US" sz="2000" dirty="0">
                <a:latin typeface="Times New Roman" pitchFamily="18" charset="0"/>
                <a:cs typeface="Times New Roman" pitchFamily="18" charset="0"/>
              </a:rPr>
              <a:t>III. LITERATURE SURVEY</a:t>
            </a:r>
          </a:p>
          <a:p>
            <a:pPr marL="0" indent="0" eaLnBrk="1" hangingPunct="1">
              <a:buFont typeface="Arial" charset="0"/>
              <a:buNone/>
            </a:pPr>
            <a:r>
              <a:rPr lang="en-US" sz="2000" dirty="0">
                <a:latin typeface="Times New Roman" pitchFamily="18" charset="0"/>
                <a:cs typeface="Times New Roman" pitchFamily="18" charset="0"/>
              </a:rPr>
              <a:t>IV. PROBLEM IDENTIFICATION &amp; DEFINITION</a:t>
            </a:r>
          </a:p>
          <a:p>
            <a:pPr marL="0" indent="0" eaLnBrk="1" hangingPunct="1">
              <a:buFont typeface="Arial" charset="0"/>
              <a:buNone/>
            </a:pPr>
            <a:r>
              <a:rPr lang="en-US" sz="2000" dirty="0">
                <a:latin typeface="Times New Roman" pitchFamily="18" charset="0"/>
                <a:cs typeface="Times New Roman" pitchFamily="18" charset="0"/>
              </a:rPr>
              <a:t>V. SIGNIFICANCE &amp; RELEVANCE OF WORK</a:t>
            </a:r>
          </a:p>
          <a:p>
            <a:pPr marL="0" indent="0" eaLnBrk="1" hangingPunct="1">
              <a:buFont typeface="Arial" charset="0"/>
              <a:buNone/>
            </a:pPr>
            <a:r>
              <a:rPr lang="en-US" sz="2000" dirty="0">
                <a:latin typeface="Times New Roman" pitchFamily="18" charset="0"/>
                <a:cs typeface="Times New Roman" pitchFamily="18" charset="0"/>
              </a:rPr>
              <a:t>VI. OBJECTIVES AND METHODOLOGY</a:t>
            </a:r>
          </a:p>
          <a:p>
            <a:pPr marL="0" indent="0" eaLnBrk="1" hangingPunct="1">
              <a:buFont typeface="Arial" charset="0"/>
              <a:buNone/>
            </a:pPr>
            <a:r>
              <a:rPr lang="en-US" sz="2000" dirty="0">
                <a:latin typeface="Times New Roman" pitchFamily="18" charset="0"/>
                <a:cs typeface="Times New Roman" pitchFamily="18" charset="0"/>
              </a:rPr>
              <a:t>VII. PLAN OF EXECUTION(Gantt Chart)</a:t>
            </a:r>
          </a:p>
          <a:p>
            <a:pPr marL="0" indent="0" eaLnBrk="1" hangingPunct="1">
              <a:buFont typeface="Arial" charset="0"/>
              <a:buNone/>
            </a:pPr>
            <a:r>
              <a:rPr lang="en-US" sz="2000" dirty="0">
                <a:latin typeface="Times New Roman" pitchFamily="18" charset="0"/>
                <a:cs typeface="Times New Roman" pitchFamily="18" charset="0"/>
              </a:rPr>
              <a:t>VIII.SRS</a:t>
            </a:r>
          </a:p>
          <a:p>
            <a:pPr marL="0" indent="0" eaLnBrk="1" hangingPunct="1">
              <a:buFont typeface="Arial" charset="0"/>
              <a:buNone/>
            </a:pPr>
            <a:r>
              <a:rPr lang="en-US" sz="2000" dirty="0">
                <a:latin typeface="Times New Roman" pitchFamily="18" charset="0"/>
                <a:cs typeface="Times New Roman" pitchFamily="18" charset="0"/>
              </a:rPr>
              <a:t>IX.ANALYSIS</a:t>
            </a:r>
          </a:p>
          <a:p>
            <a:pPr marL="0" indent="0" eaLnBrk="1" hangingPunct="1">
              <a:buFont typeface="Arial" charset="0"/>
              <a:buNone/>
            </a:pPr>
            <a:r>
              <a:rPr lang="en-US" sz="2000" dirty="0">
                <a:latin typeface="Times New Roman" pitchFamily="18" charset="0"/>
                <a:cs typeface="Times New Roman" pitchFamily="18" charset="0"/>
              </a:rPr>
              <a:t>X. DESIGN</a:t>
            </a:r>
          </a:p>
          <a:p>
            <a:pPr marL="0" indent="0" eaLnBrk="1" hangingPunct="1">
              <a:buFont typeface="Arial" charset="0"/>
              <a:buNone/>
            </a:pPr>
            <a:r>
              <a:rPr lang="en-US" sz="2000" dirty="0">
                <a:latin typeface="Times New Roman" pitchFamily="18" charset="0"/>
                <a:cs typeface="Times New Roman" pitchFamily="18" charset="0"/>
              </a:rPr>
              <a:t>XI.IMPLEMENTATION</a:t>
            </a:r>
          </a:p>
          <a:p>
            <a:pPr marL="0" indent="0" eaLnBrk="1" hangingPunct="1">
              <a:buFont typeface="Arial" charset="0"/>
              <a:buNone/>
            </a:pPr>
            <a:r>
              <a:rPr lang="en-US" sz="2000" dirty="0">
                <a:latin typeface="Times New Roman" pitchFamily="18" charset="0"/>
                <a:cs typeface="Times New Roman" pitchFamily="18" charset="0"/>
              </a:rPr>
              <a:t>XII. TESTING</a:t>
            </a:r>
          </a:p>
          <a:p>
            <a:pPr marL="0" indent="0" eaLnBrk="1" hangingPunct="1">
              <a:buFont typeface="Arial" charset="0"/>
              <a:buNone/>
            </a:pPr>
            <a:r>
              <a:rPr lang="en-US" sz="2000" dirty="0">
                <a:latin typeface="Times New Roman" pitchFamily="18" charset="0"/>
                <a:cs typeface="Times New Roman" pitchFamily="18" charset="0"/>
              </a:rPr>
              <a:t>XIII. RESULTS AND DISCUSION</a:t>
            </a:r>
          </a:p>
          <a:p>
            <a:pPr marL="0" indent="0" eaLnBrk="1" hangingPunct="1">
              <a:buFont typeface="Arial" charset="0"/>
              <a:buNone/>
            </a:pPr>
            <a:r>
              <a:rPr lang="en-US" sz="2000" dirty="0">
                <a:latin typeface="Times New Roman" pitchFamily="18" charset="0"/>
                <a:cs typeface="Times New Roman" pitchFamily="18" charset="0"/>
              </a:rPr>
              <a:t>XIV. CONCLUSION AND FUTURE ENHANCEMENTS</a:t>
            </a:r>
          </a:p>
          <a:p>
            <a:pPr marL="0" indent="0" eaLnBrk="1" hangingPunct="1">
              <a:buFont typeface="Arial" charset="0"/>
              <a:buNone/>
            </a:pPr>
            <a:r>
              <a:rPr lang="en-US" sz="2000" dirty="0">
                <a:latin typeface="Times New Roman" pitchFamily="18" charset="0"/>
                <a:cs typeface="Times New Roman" pitchFamily="18" charset="0"/>
              </a:rPr>
              <a:t>        Bibliography</a:t>
            </a:r>
          </a:p>
        </p:txBody>
      </p:sp>
      <p:sp>
        <p:nvSpPr>
          <p:cNvPr id="4"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
        <p:nvSpPr>
          <p:cNvPr id="5" name="Slide Number Placeholder 4"/>
          <p:cNvSpPr>
            <a:spLocks noGrp="1"/>
          </p:cNvSpPr>
          <p:nvPr>
            <p:ph type="sldNum" sz="quarter" idx="12"/>
          </p:nvPr>
        </p:nvSpPr>
        <p:spPr/>
        <p:txBody>
          <a:bodyPr/>
          <a:lstStyle/>
          <a:p>
            <a:pPr>
              <a:defRPr/>
            </a:pPr>
            <a:fld id="{AD5E59E0-17D6-407F-846F-AC252CE09AC1}" type="slidenum">
              <a:rPr lang="en-US" b="1">
                <a:latin typeface="Times New Roman" pitchFamily="18" charset="0"/>
                <a:cs typeface="Times New Roman" pitchFamily="18" charset="0"/>
              </a:rPr>
              <a:pPr>
                <a:defRPr/>
              </a:pPr>
              <a:t>2</a:t>
            </a:fld>
            <a:endParaRPr lang="en-US"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722313" y="398463"/>
            <a:ext cx="7688262" cy="1042987"/>
          </a:xfrm>
        </p:spPr>
        <p:txBody>
          <a:bodyPr/>
          <a:lstStyle/>
          <a:p>
            <a:pPr eaLnBrk="1" hangingPunct="1"/>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 ABSTRACT</a:t>
            </a:r>
          </a:p>
        </p:txBody>
      </p:sp>
      <p:sp>
        <p:nvSpPr>
          <p:cNvPr id="4099" name="Content Placeholder 2"/>
          <p:cNvSpPr>
            <a:spLocks noGrp="1"/>
          </p:cNvSpPr>
          <p:nvPr>
            <p:ph idx="1"/>
          </p:nvPr>
        </p:nvSpPr>
        <p:spPr>
          <a:xfrm>
            <a:off x="300446" y="1403713"/>
            <a:ext cx="11262587" cy="4675188"/>
          </a:xfrm>
        </p:spPr>
        <p:txBody>
          <a:bodyPr/>
          <a:lstStyle/>
          <a:p>
            <a:pPr algn="just">
              <a:buNone/>
            </a:pPr>
            <a:r>
              <a:rPr lang="en-US" sz="2400" dirty="0">
                <a:latin typeface="Times New Roman" pitchFamily="18" charset="0"/>
                <a:cs typeface="Times New Roman" pitchFamily="18" charset="0"/>
              </a:rPr>
              <a:t>	The rapid adoption of IoT devices has introduced major cyber security risks due to weak  security measures. Notable incidents like the Mirai botnet attack (2016) and the water treatment facility hack (2021) highlight these vulnerabilities. This project aims to develop an advanced firewall for IoT devices to enhance security and mitigate cyber threats effectively. The firewall will incorporate real-time traffic monitoring and anomaly detection to identify suspicious activities. Additionally, it will feature adaptive access control mechanisms to prevent unauthorized access and ensure secure device communication.</a:t>
            </a:r>
          </a:p>
          <a:p>
            <a:pPr algn="just">
              <a:buNone/>
            </a:pPr>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852E21DD-684C-436D-993C-56D19137C848}" type="slidenum">
              <a:rPr lang="en-US"/>
              <a:pPr>
                <a:defRPr/>
              </a:pPr>
              <a:t>3</a:t>
            </a:fld>
            <a:endParaRPr lang="en-US" dirty="0"/>
          </a:p>
        </p:txBody>
      </p:sp>
      <p:sp>
        <p:nvSpPr>
          <p:cNvPr id="6"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1624013" y="274638"/>
            <a:ext cx="7472362" cy="1143000"/>
          </a:xfrm>
        </p:spPr>
        <p:txBody>
          <a:bodyPr/>
          <a:lstStyle/>
          <a:p>
            <a:pPr eaLnBrk="1" hangingPunct="1"/>
            <a:r>
              <a:rPr lang="en-US" sz="3200" b="1" dirty="0">
                <a:latin typeface="Times New Roman" pitchFamily="18" charset="0"/>
                <a:cs typeface="Times New Roman" pitchFamily="18" charset="0"/>
              </a:rPr>
              <a:t>            INTRODUCTION</a:t>
            </a:r>
          </a:p>
        </p:txBody>
      </p:sp>
      <p:sp>
        <p:nvSpPr>
          <p:cNvPr id="3" name="Content Placeholder 2"/>
          <p:cNvSpPr>
            <a:spLocks noGrp="1"/>
          </p:cNvSpPr>
          <p:nvPr>
            <p:ph idx="1"/>
          </p:nvPr>
        </p:nvSpPr>
        <p:spPr>
          <a:xfrm>
            <a:off x="492370" y="1283677"/>
            <a:ext cx="11055195" cy="5020407"/>
          </a:xfrm>
        </p:spPr>
        <p:txBody>
          <a:bodyPr rtlCol="0">
            <a:normAutofit/>
          </a:bodyPr>
          <a:lstStyle/>
          <a:p>
            <a:pPr algn="just"/>
            <a:r>
              <a:rPr lang="en-US" sz="2400" dirty="0">
                <a:latin typeface="Times New Roman" pitchFamily="18" charset="0"/>
                <a:cs typeface="Times New Roman" pitchFamily="18" charset="0"/>
              </a:rPr>
              <a:t>IoT has transformed industries by enabling seamless connectivity and automation, but weak security protocols expose devices to cyber threats. Notable incidents like the 2016 Mirai Botnet Attack and studies showing 98% of IoT traffic is unencrypted highlight these risks.</a:t>
            </a:r>
          </a:p>
          <a:p>
            <a:pPr algn="just"/>
            <a:r>
              <a:rPr lang="en-US" sz="2400" dirty="0">
                <a:latin typeface="Times New Roman" pitchFamily="18" charset="0"/>
                <a:cs typeface="Times New Roman" pitchFamily="18" charset="0"/>
              </a:rPr>
              <a:t>Traditional centralized IoT systems face security, latency, and privacy issues, making them less reliable for critical applications. IoT SecureLink, leveraging ESP-NOW, offers a secure peer-to-peer communication framework, ensuring encrypted, authenticated data exchange without internet reliance.</a:t>
            </a:r>
          </a:p>
          <a:p>
            <a:pPr algn="just"/>
            <a:r>
              <a:rPr lang="en-US" sz="2400" dirty="0">
                <a:latin typeface="Times New Roman" pitchFamily="18" charset="0"/>
                <a:cs typeface="Times New Roman" pitchFamily="18" charset="0"/>
              </a:rPr>
              <a:t>This scalable and cost-effective solution enhances security in healthcare, smart homes, and industrial automation by reducing vulnerabilities and ensuring safe IoT interactions.</a:t>
            </a:r>
          </a:p>
          <a:p>
            <a:pPr marL="0" indent="0" algn="just" eaLnBrk="1" fontAlgn="auto" hangingPunct="1">
              <a:spcAft>
                <a:spcPts val="0"/>
              </a:spcAft>
              <a:buFont typeface="Arial" pitchFamily="34" charset="0"/>
              <a:buNone/>
              <a:defRPr/>
            </a:pPr>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7C2F7E0E-0530-4147-860D-B7134606320A}" type="slidenum">
              <a:rPr lang="en-US"/>
              <a:pPr>
                <a:defRPr/>
              </a:pPr>
              <a:t>4</a:t>
            </a:fld>
            <a:endParaRPr lang="en-US"/>
          </a:p>
        </p:txBody>
      </p:sp>
      <p:sp>
        <p:nvSpPr>
          <p:cNvPr id="6"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0363" y="114301"/>
            <a:ext cx="8910637" cy="1195753"/>
          </a:xfrm>
        </p:spPr>
        <p:txBody>
          <a:bodyPr/>
          <a:lstStyle/>
          <a:p>
            <a:pPr eaLnBrk="1" hangingPunct="1"/>
            <a:r>
              <a:rPr lang="en-US" sz="3200" b="1" dirty="0">
                <a:latin typeface="Times New Roman" pitchFamily="18" charset="0"/>
                <a:cs typeface="Times New Roman" pitchFamily="18" charset="0"/>
              </a:rPr>
              <a:t>LITERATURE SURVEY</a:t>
            </a:r>
          </a:p>
        </p:txBody>
      </p:sp>
      <p:sp>
        <p:nvSpPr>
          <p:cNvPr id="5" name="Slide Number Placeholder 4"/>
          <p:cNvSpPr>
            <a:spLocks noGrp="1"/>
          </p:cNvSpPr>
          <p:nvPr>
            <p:ph type="sldNum" sz="quarter" idx="12"/>
          </p:nvPr>
        </p:nvSpPr>
        <p:spPr/>
        <p:txBody>
          <a:bodyPr/>
          <a:lstStyle/>
          <a:p>
            <a:pPr>
              <a:defRPr/>
            </a:pPr>
            <a:fld id="{BA154A63-1081-40A5-84B2-54B61F186320}" type="slidenum">
              <a:rPr lang="en-US"/>
              <a:pPr>
                <a:defRPr/>
              </a:pPr>
              <a:t>5</a:t>
            </a:fld>
            <a:endParaRPr lang="en-US"/>
          </a:p>
        </p:txBody>
      </p:sp>
      <p:graphicFrame>
        <p:nvGraphicFramePr>
          <p:cNvPr id="6" name="Content Placeholder 5"/>
          <p:cNvGraphicFramePr>
            <a:graphicFrameLocks noGrp="1"/>
          </p:cNvGraphicFramePr>
          <p:nvPr>
            <p:ph idx="1"/>
          </p:nvPr>
        </p:nvGraphicFramePr>
        <p:xfrm>
          <a:off x="796833" y="1184456"/>
          <a:ext cx="10563496" cy="5017841"/>
        </p:xfrm>
        <a:graphic>
          <a:graphicData uri="http://schemas.openxmlformats.org/drawingml/2006/table">
            <a:tbl>
              <a:tblPr firstRow="1" bandRow="1">
                <a:tableStyleId>{5C22544A-7EE6-4342-B048-85BDC9FD1C3A}</a:tableStyleId>
              </a:tblPr>
              <a:tblGrid>
                <a:gridCol w="1685109">
                  <a:extLst>
                    <a:ext uri="{9D8B030D-6E8A-4147-A177-3AD203B41FA5}">
                      <a16:colId xmlns:a16="http://schemas.microsoft.com/office/drawing/2014/main" xmlns="" val="20000"/>
                    </a:ext>
                  </a:extLst>
                </a:gridCol>
                <a:gridCol w="2952206">
                  <a:extLst>
                    <a:ext uri="{9D8B030D-6E8A-4147-A177-3AD203B41FA5}">
                      <a16:colId xmlns:a16="http://schemas.microsoft.com/office/drawing/2014/main" xmlns="" val="20001"/>
                    </a:ext>
                  </a:extLst>
                </a:gridCol>
                <a:gridCol w="2717074">
                  <a:extLst>
                    <a:ext uri="{9D8B030D-6E8A-4147-A177-3AD203B41FA5}">
                      <a16:colId xmlns:a16="http://schemas.microsoft.com/office/drawing/2014/main" xmlns="" val="20002"/>
                    </a:ext>
                  </a:extLst>
                </a:gridCol>
                <a:gridCol w="3209107">
                  <a:extLst>
                    <a:ext uri="{9D8B030D-6E8A-4147-A177-3AD203B41FA5}">
                      <a16:colId xmlns:a16="http://schemas.microsoft.com/office/drawing/2014/main" xmlns="" val="20003"/>
                    </a:ext>
                  </a:extLst>
                </a:gridCol>
              </a:tblGrid>
              <a:tr h="767546">
                <a:tc>
                  <a:txBody>
                    <a:bodyPr/>
                    <a:lstStyle/>
                    <a:p>
                      <a:r>
                        <a:rPr sz="1600">
                          <a:latin typeface="Times New Roman" pitchFamily="18" charset="0"/>
                          <a:cs typeface="Times New Roman" pitchFamily="18" charset="0"/>
                        </a:rPr>
                        <a:t>Ref. No.</a:t>
                      </a:r>
                    </a:p>
                  </a:txBody>
                  <a:tcPr/>
                </a:tc>
                <a:tc>
                  <a:txBody>
                    <a:bodyPr/>
                    <a:lstStyle/>
                    <a:p>
                      <a:r>
                        <a:rPr sz="1600">
                          <a:latin typeface="Times New Roman" pitchFamily="18" charset="0"/>
                          <a:cs typeface="Times New Roman" pitchFamily="18" charset="0"/>
                        </a:rPr>
                        <a:t>Author(s) &amp; Year</a:t>
                      </a:r>
                    </a:p>
                  </a:txBody>
                  <a:tcPr/>
                </a:tc>
                <a:tc>
                  <a:txBody>
                    <a:bodyPr/>
                    <a:lstStyle/>
                    <a:p>
                      <a:r>
                        <a:rPr sz="1600">
                          <a:latin typeface="Times New Roman" pitchFamily="18" charset="0"/>
                          <a:cs typeface="Times New Roman" pitchFamily="18" charset="0"/>
                        </a:rPr>
                        <a:t>Topic</a:t>
                      </a:r>
                    </a:p>
                  </a:txBody>
                  <a:tcPr/>
                </a:tc>
                <a:tc>
                  <a:txBody>
                    <a:bodyPr/>
                    <a:lstStyle/>
                    <a:p>
                      <a:r>
                        <a:rPr sz="1600">
                          <a:latin typeface="Times New Roman" pitchFamily="18" charset="0"/>
                          <a:cs typeface="Times New Roman" pitchFamily="18" charset="0"/>
                        </a:rPr>
                        <a:t>Key Findings</a:t>
                      </a:r>
                    </a:p>
                  </a:txBody>
                  <a:tcPr/>
                </a:tc>
                <a:extLst>
                  <a:ext uri="{0D108BD9-81ED-4DB2-BD59-A6C34878D82A}">
                    <a16:rowId xmlns:a16="http://schemas.microsoft.com/office/drawing/2014/main" xmlns="" val="10000"/>
                  </a:ext>
                </a:extLst>
              </a:tr>
              <a:tr h="790091">
                <a:tc>
                  <a:txBody>
                    <a:bodyPr/>
                    <a:lstStyle/>
                    <a:p>
                      <a:r>
                        <a:rPr sz="1600">
                          <a:latin typeface="Times New Roman" pitchFamily="18" charset="0"/>
                          <a:cs typeface="Times New Roman" pitchFamily="18" charset="0"/>
                        </a:rPr>
                        <a:t>[1]</a:t>
                      </a:r>
                    </a:p>
                  </a:txBody>
                  <a:tcPr/>
                </a:tc>
                <a:tc>
                  <a:txBody>
                    <a:bodyPr/>
                    <a:lstStyle/>
                    <a:p>
                      <a:r>
                        <a:rPr sz="1600">
                          <a:latin typeface="Times New Roman" pitchFamily="18" charset="0"/>
                          <a:cs typeface="Times New Roman" pitchFamily="18" charset="0"/>
                        </a:rPr>
                        <a:t>M. Brachmann et al., 2012</a:t>
                      </a:r>
                    </a:p>
                  </a:txBody>
                  <a:tcPr/>
                </a:tc>
                <a:tc>
                  <a:txBody>
                    <a:bodyPr/>
                    <a:lstStyle/>
                    <a:p>
                      <a:r>
                        <a:rPr sz="1600">
                          <a:latin typeface="Times New Roman" pitchFamily="18" charset="0"/>
                          <a:cs typeface="Times New Roman" pitchFamily="18" charset="0"/>
                        </a:rPr>
                        <a:t>Transport Security in IoT</a:t>
                      </a:r>
                    </a:p>
                  </a:txBody>
                  <a:tcPr/>
                </a:tc>
                <a:tc>
                  <a:txBody>
                    <a:bodyPr/>
                    <a:lstStyle/>
                    <a:p>
                      <a:r>
                        <a:rPr sz="1600">
                          <a:latin typeface="Times New Roman" pitchFamily="18" charset="0"/>
                          <a:cs typeface="Times New Roman" pitchFamily="18" charset="0"/>
                        </a:rPr>
                        <a:t>Proposes encryption techniques for securing end-to-end IoT communication.</a:t>
                      </a:r>
                    </a:p>
                  </a:txBody>
                  <a:tcPr/>
                </a:tc>
                <a:extLst>
                  <a:ext uri="{0D108BD9-81ED-4DB2-BD59-A6C34878D82A}">
                    <a16:rowId xmlns:a16="http://schemas.microsoft.com/office/drawing/2014/main" xmlns="" val="10001"/>
                  </a:ext>
                </a:extLst>
              </a:tr>
              <a:tr h="790091">
                <a:tc>
                  <a:txBody>
                    <a:bodyPr/>
                    <a:lstStyle/>
                    <a:p>
                      <a:r>
                        <a:rPr sz="1600">
                          <a:latin typeface="Times New Roman" pitchFamily="18" charset="0"/>
                          <a:cs typeface="Times New Roman" pitchFamily="18" charset="0"/>
                        </a:rPr>
                        <a:t>[</a:t>
                      </a:r>
                      <a:r>
                        <a:rPr lang="en-IN" sz="1600" dirty="0">
                          <a:latin typeface="Times New Roman" pitchFamily="18" charset="0"/>
                          <a:cs typeface="Times New Roman" pitchFamily="18" charset="0"/>
                        </a:rPr>
                        <a:t>2</a:t>
                      </a:r>
                      <a:r>
                        <a:rPr sz="1600">
                          <a:latin typeface="Times New Roman" pitchFamily="18" charset="0"/>
                          <a:cs typeface="Times New Roman" pitchFamily="18" charset="0"/>
                        </a:rPr>
                        <a:t>]</a:t>
                      </a:r>
                    </a:p>
                  </a:txBody>
                  <a:tcPr/>
                </a:tc>
                <a:tc>
                  <a:txBody>
                    <a:bodyPr/>
                    <a:lstStyle/>
                    <a:p>
                      <a:r>
                        <a:rPr sz="1600">
                          <a:latin typeface="Times New Roman" pitchFamily="18" charset="0"/>
                          <a:cs typeface="Times New Roman" pitchFamily="18" charset="0"/>
                        </a:rPr>
                        <a:t>S. Babar et al., 2010</a:t>
                      </a:r>
                    </a:p>
                  </a:txBody>
                  <a:tcPr/>
                </a:tc>
                <a:tc>
                  <a:txBody>
                    <a:bodyPr/>
                    <a:lstStyle/>
                    <a:p>
                      <a:r>
                        <a:rPr sz="1600">
                          <a:latin typeface="Times New Roman" pitchFamily="18" charset="0"/>
                          <a:cs typeface="Times New Roman" pitchFamily="18" charset="0"/>
                        </a:rPr>
                        <a:t>IoT Security Model</a:t>
                      </a:r>
                    </a:p>
                  </a:txBody>
                  <a:tcPr/>
                </a:tc>
                <a:tc>
                  <a:txBody>
                    <a:bodyPr/>
                    <a:lstStyle/>
                    <a:p>
                      <a:r>
                        <a:rPr sz="1600">
                          <a:latin typeface="Times New Roman" pitchFamily="18" charset="0"/>
                          <a:cs typeface="Times New Roman" pitchFamily="18" charset="0"/>
                        </a:rPr>
                        <a:t>Introduces a security model and threat taxonomy for IoT environments.</a:t>
                      </a:r>
                    </a:p>
                  </a:txBody>
                  <a:tcPr/>
                </a:tc>
                <a:extLst>
                  <a:ext uri="{0D108BD9-81ED-4DB2-BD59-A6C34878D82A}">
                    <a16:rowId xmlns:a16="http://schemas.microsoft.com/office/drawing/2014/main" xmlns="" val="10002"/>
                  </a:ext>
                </a:extLst>
              </a:tr>
              <a:tr h="790091">
                <a:tc>
                  <a:txBody>
                    <a:bodyPr/>
                    <a:lstStyle/>
                    <a:p>
                      <a:r>
                        <a:rPr sz="1600">
                          <a:latin typeface="Times New Roman" pitchFamily="18" charset="0"/>
                          <a:cs typeface="Times New Roman" pitchFamily="18" charset="0"/>
                        </a:rPr>
                        <a:t>[</a:t>
                      </a:r>
                      <a:r>
                        <a:rPr lang="en-IN" sz="1600" dirty="0">
                          <a:latin typeface="Times New Roman" pitchFamily="18" charset="0"/>
                          <a:cs typeface="Times New Roman" pitchFamily="18" charset="0"/>
                        </a:rPr>
                        <a:t>3</a:t>
                      </a:r>
                      <a:r>
                        <a:rPr sz="1600">
                          <a:latin typeface="Times New Roman" pitchFamily="18" charset="0"/>
                          <a:cs typeface="Times New Roman" pitchFamily="18" charset="0"/>
                        </a:rPr>
                        <a:t>]</a:t>
                      </a:r>
                    </a:p>
                  </a:txBody>
                  <a:tcPr/>
                </a:tc>
                <a:tc>
                  <a:txBody>
                    <a:bodyPr/>
                    <a:lstStyle/>
                    <a:p>
                      <a:r>
                        <a:rPr sz="1600">
                          <a:latin typeface="Times New Roman" pitchFamily="18" charset="0"/>
                          <a:cs typeface="Times New Roman" pitchFamily="18" charset="0"/>
                        </a:rPr>
                        <a:t>S. Babar et al., 2011</a:t>
                      </a:r>
                    </a:p>
                  </a:txBody>
                  <a:tcPr/>
                </a:tc>
                <a:tc>
                  <a:txBody>
                    <a:bodyPr/>
                    <a:lstStyle/>
                    <a:p>
                      <a:r>
                        <a:rPr sz="1600">
                          <a:latin typeface="Times New Roman" pitchFamily="18" charset="0"/>
                          <a:cs typeface="Times New Roman" pitchFamily="18" charset="0"/>
                        </a:rPr>
                        <a:t>Embedded Security for IoT</a:t>
                      </a:r>
                    </a:p>
                  </a:txBody>
                  <a:tcPr/>
                </a:tc>
                <a:tc>
                  <a:txBody>
                    <a:bodyPr/>
                    <a:lstStyle/>
                    <a:p>
                      <a:r>
                        <a:rPr sz="1600">
                          <a:latin typeface="Times New Roman" pitchFamily="18" charset="0"/>
                          <a:cs typeface="Times New Roman" pitchFamily="18" charset="0"/>
                        </a:rPr>
                        <a:t>Presents a framework to enhance IoT device security and resilience.</a:t>
                      </a:r>
                    </a:p>
                  </a:txBody>
                  <a:tcPr/>
                </a:tc>
                <a:extLst>
                  <a:ext uri="{0D108BD9-81ED-4DB2-BD59-A6C34878D82A}">
                    <a16:rowId xmlns:a16="http://schemas.microsoft.com/office/drawing/2014/main" xmlns="" val="10003"/>
                  </a:ext>
                </a:extLst>
              </a:tr>
              <a:tr h="790091">
                <a:tc>
                  <a:txBody>
                    <a:bodyPr/>
                    <a:lstStyle/>
                    <a:p>
                      <a:r>
                        <a:rPr sz="1600">
                          <a:latin typeface="Times New Roman" pitchFamily="18" charset="0"/>
                          <a:cs typeface="Times New Roman" pitchFamily="18" charset="0"/>
                        </a:rPr>
                        <a:t>[</a:t>
                      </a:r>
                      <a:r>
                        <a:rPr lang="en-IN" sz="1600" dirty="0">
                          <a:latin typeface="Times New Roman" pitchFamily="18" charset="0"/>
                          <a:cs typeface="Times New Roman" pitchFamily="18" charset="0"/>
                        </a:rPr>
                        <a:t>4</a:t>
                      </a:r>
                      <a:r>
                        <a:rPr sz="1600">
                          <a:latin typeface="Times New Roman" pitchFamily="18" charset="0"/>
                          <a:cs typeface="Times New Roman" pitchFamily="18" charset="0"/>
                        </a:rPr>
                        <a:t>]</a:t>
                      </a:r>
                    </a:p>
                  </a:txBody>
                  <a:tcPr/>
                </a:tc>
                <a:tc>
                  <a:txBody>
                    <a:bodyPr/>
                    <a:lstStyle/>
                    <a:p>
                      <a:r>
                        <a:rPr sz="1600">
                          <a:latin typeface="Times New Roman" pitchFamily="18" charset="0"/>
                          <a:cs typeface="Times New Roman" pitchFamily="18" charset="0"/>
                        </a:rPr>
                        <a:t>S. Notra et al., 2014</a:t>
                      </a:r>
                    </a:p>
                  </a:txBody>
                  <a:tcPr/>
                </a:tc>
                <a:tc>
                  <a:txBody>
                    <a:bodyPr/>
                    <a:lstStyle/>
                    <a:p>
                      <a:r>
                        <a:rPr sz="1600">
                          <a:latin typeface="Times New Roman" pitchFamily="18" charset="0"/>
                          <a:cs typeface="Times New Roman" pitchFamily="18" charset="0"/>
                        </a:rPr>
                        <a:t>Security &amp; Privacy in IoT</a:t>
                      </a:r>
                    </a:p>
                  </a:txBody>
                  <a:tcPr/>
                </a:tc>
                <a:tc>
                  <a:txBody>
                    <a:bodyPr/>
                    <a:lstStyle/>
                    <a:p>
                      <a:r>
                        <a:rPr sz="1600">
                          <a:latin typeface="Times New Roman" pitchFamily="18" charset="0"/>
                          <a:cs typeface="Times New Roman" pitchFamily="18" charset="0"/>
                        </a:rPr>
                        <a:t>Analyzes security vulnerabilities in smart home appliances.</a:t>
                      </a:r>
                    </a:p>
                  </a:txBody>
                  <a:tcPr/>
                </a:tc>
                <a:extLst>
                  <a:ext uri="{0D108BD9-81ED-4DB2-BD59-A6C34878D82A}">
                    <a16:rowId xmlns:a16="http://schemas.microsoft.com/office/drawing/2014/main" xmlns="" val="10004"/>
                  </a:ext>
                </a:extLst>
              </a:tr>
              <a:tr h="1024193">
                <a:tc>
                  <a:txBody>
                    <a:bodyPr/>
                    <a:lstStyle/>
                    <a:p>
                      <a:r>
                        <a:rPr sz="1600">
                          <a:latin typeface="Times New Roman" pitchFamily="18" charset="0"/>
                          <a:cs typeface="Times New Roman" pitchFamily="18" charset="0"/>
                        </a:rPr>
                        <a:t>[</a:t>
                      </a:r>
                      <a:r>
                        <a:rPr lang="en-IN" sz="1600" dirty="0">
                          <a:latin typeface="Times New Roman" pitchFamily="18" charset="0"/>
                          <a:cs typeface="Times New Roman" pitchFamily="18" charset="0"/>
                        </a:rPr>
                        <a:t>5</a:t>
                      </a:r>
                      <a:r>
                        <a:rPr sz="1600">
                          <a:latin typeface="Times New Roman" pitchFamily="18" charset="0"/>
                          <a:cs typeface="Times New Roman" pitchFamily="18" charset="0"/>
                        </a:rPr>
                        <a:t>]</a:t>
                      </a:r>
                    </a:p>
                  </a:txBody>
                  <a:tcPr/>
                </a:tc>
                <a:tc>
                  <a:txBody>
                    <a:bodyPr/>
                    <a:lstStyle/>
                    <a:p>
                      <a:r>
                        <a:rPr sz="1600">
                          <a:latin typeface="Times New Roman" pitchFamily="18" charset="0"/>
                          <a:cs typeface="Times New Roman" pitchFamily="18" charset="0"/>
                        </a:rPr>
                        <a:t>S. Singh &amp; N. Singh, 2015</a:t>
                      </a:r>
                    </a:p>
                  </a:txBody>
                  <a:tcPr/>
                </a:tc>
                <a:tc>
                  <a:txBody>
                    <a:bodyPr/>
                    <a:lstStyle/>
                    <a:p>
                      <a:r>
                        <a:rPr sz="1600">
                          <a:latin typeface="Times New Roman" pitchFamily="18" charset="0"/>
                          <a:cs typeface="Times New Roman" pitchFamily="18" charset="0"/>
                        </a:rPr>
                        <a:t>IoT Security Challenges</a:t>
                      </a:r>
                    </a:p>
                  </a:txBody>
                  <a:tcPr/>
                </a:tc>
                <a:tc>
                  <a:txBody>
                    <a:bodyPr/>
                    <a:lstStyle/>
                    <a:p>
                      <a:r>
                        <a:rPr sz="1600">
                          <a:latin typeface="Times New Roman" pitchFamily="18" charset="0"/>
                          <a:cs typeface="Times New Roman" pitchFamily="18" charset="0"/>
                        </a:rPr>
                        <a:t>Discusses business opportunities and security challenges in IoT-based e-commerce.</a:t>
                      </a:r>
                    </a:p>
                  </a:txBody>
                  <a:tcPr/>
                </a:tc>
                <a:extLst>
                  <a:ext uri="{0D108BD9-81ED-4DB2-BD59-A6C34878D82A}">
                    <a16:rowId xmlns:a16="http://schemas.microsoft.com/office/drawing/2014/main" xmlns="" val="10005"/>
                  </a:ext>
                </a:extLst>
              </a:tr>
            </a:tbl>
          </a:graphicData>
        </a:graphic>
      </p:graphicFrame>
      <p:sp>
        <p:nvSpPr>
          <p:cNvPr id="7"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PROBLEM  IDENTIFICATION &amp; DEFINITION</a:t>
            </a:r>
          </a:p>
        </p:txBody>
      </p:sp>
      <p:sp>
        <p:nvSpPr>
          <p:cNvPr id="7171" name="Content Placeholder 2"/>
          <p:cNvSpPr>
            <a:spLocks noGrp="1"/>
          </p:cNvSpPr>
          <p:nvPr>
            <p:ph idx="1"/>
          </p:nvPr>
        </p:nvSpPr>
        <p:spPr>
          <a:xfrm>
            <a:off x="351692" y="1415562"/>
            <a:ext cx="11230708" cy="4976446"/>
          </a:xfrm>
        </p:spPr>
        <p:txBody>
          <a:bodyPr/>
          <a:lstStyle/>
          <a:p>
            <a:pPr algn="just" eaLnBrk="1" hangingPunct="1"/>
            <a:r>
              <a:rPr lang="en-US" sz="2400" dirty="0">
                <a:latin typeface="Times New Roman" pitchFamily="18" charset="0"/>
                <a:cs typeface="Times New Roman" pitchFamily="18" charset="0"/>
              </a:rPr>
              <a:t>"Design and implement a lightweight, secure, and decentralized communication framework for IoT devices using ESP-NOW, addressing the challenges of resource constraints, protocol heterogeneity, and data security, while ensuring scalability, energy efficiency, and ease of deployment.”</a:t>
            </a:r>
          </a:p>
          <a:p>
            <a:pPr algn="just" eaLnBrk="1" hangingPunct="1"/>
            <a:r>
              <a:rPr lang="en-IN" sz="2400" dirty="0">
                <a:latin typeface="Times New Roman" pitchFamily="18" charset="0"/>
                <a:cs typeface="Times New Roman" pitchFamily="18" charset="0"/>
              </a:rPr>
              <a:t>The main problem this project seeks to address is the inadequate security in IoT communication systems. Specifically, it focuses on mitigating the risks arising from the lack of encryption, vulnerable communication protocols (like unencrypted MQTT and HTTP), and unauthorized device access.</a:t>
            </a:r>
          </a:p>
          <a:p>
            <a:pPr algn="just" eaLnBrk="1" hangingPunct="1">
              <a:buNone/>
            </a:pPr>
            <a:endParaRPr lang="en-US" sz="2400" dirty="0">
              <a:latin typeface="Times New Roman" pitchFamily="18" charset="0"/>
              <a:cs typeface="Times New Roman" pitchFamily="18" charset="0"/>
            </a:endParaRPr>
          </a:p>
          <a:p>
            <a:pPr algn="just" eaLnBrk="1" hangingPunct="1">
              <a:buNone/>
            </a:pPr>
            <a:r>
              <a:rPr lang="en-US" sz="2400" b="1" dirty="0">
                <a:latin typeface="Times New Roman" pitchFamily="18" charset="0"/>
                <a:cs typeface="Times New Roman" pitchFamily="18" charset="0"/>
              </a:rPr>
              <a:t>Problem Statement:</a:t>
            </a:r>
            <a:r>
              <a:rPr lang="en-IN" sz="2400" dirty="0">
                <a:latin typeface="Times New Roman" pitchFamily="18" charset="0"/>
                <a:cs typeface="Times New Roman" pitchFamily="18" charset="0"/>
              </a:rPr>
              <a:t>Despite their potential to revolutionize industries and daily life, IoT devices are inherently vulnerable to security threats. One of the fundamental reasons for this vulnerability is the lack of comprehensive security measures implemented at the device level. </a:t>
            </a:r>
            <a:endParaRPr lang="en-US" sz="24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F7EDBEC5-1BD0-4289-A0D0-85ADAA8AC8DD}"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SIGNIFICANCE &amp; RELEVANCE OF WORK</a:t>
            </a:r>
          </a:p>
        </p:txBody>
      </p:sp>
      <p:sp>
        <p:nvSpPr>
          <p:cNvPr id="8195" name="Content Placeholder 2"/>
          <p:cNvSpPr>
            <a:spLocks noGrp="1"/>
          </p:cNvSpPr>
          <p:nvPr>
            <p:ph idx="1"/>
          </p:nvPr>
        </p:nvSpPr>
        <p:spPr/>
        <p:txBody>
          <a:bodyPr/>
          <a:lstStyle/>
          <a:p>
            <a:pPr algn="just" eaLnBrk="1" hangingPunct="1"/>
            <a:r>
              <a:rPr lang="en-IN" sz="2400" dirty="0">
                <a:latin typeface="Times New Roman" pitchFamily="18" charset="0"/>
                <a:cs typeface="Times New Roman" pitchFamily="18" charset="0"/>
              </a:rPr>
              <a:t>The relevance of this work is highlighted by the ongoing and increasing cybersecurity threats in the IoT landscape.</a:t>
            </a:r>
          </a:p>
          <a:p>
            <a:pPr algn="just" eaLnBrk="1" hangingPunct="1"/>
            <a:r>
              <a:rPr lang="en-IN" sz="2400" dirty="0">
                <a:latin typeface="Times New Roman" pitchFamily="18" charset="0"/>
                <a:cs typeface="Times New Roman" pitchFamily="18" charset="0"/>
              </a:rPr>
              <a:t>The current lack of robust security measures in many IoT systems opens the door for malicious actors to exploit weaknesses, steal sensitive data, or disrupt essential services.</a:t>
            </a:r>
          </a:p>
          <a:p>
            <a:pPr algn="just" eaLnBrk="1" hangingPunct="1"/>
            <a:r>
              <a:rPr lang="en-IN" sz="2400" dirty="0">
                <a:latin typeface="Times New Roman" pitchFamily="18" charset="0"/>
                <a:cs typeface="Times New Roman" pitchFamily="18" charset="0"/>
              </a:rPr>
              <a:t>In the context of smart homes, IoT devices such as voice assistants (e.g., Amazon Alexa, Google Nest) and security cameras are often targeted by hackers.</a:t>
            </a:r>
          </a:p>
          <a:p>
            <a:pPr algn="just" eaLnBrk="1" hangingPunct="1"/>
            <a:r>
              <a:rPr lang="en-IN" sz="2400" dirty="0">
                <a:latin typeface="Times New Roman" pitchFamily="18" charset="0"/>
                <a:cs typeface="Times New Roman" pitchFamily="18" charset="0"/>
              </a:rPr>
              <a:t>This work is highly significant as it introduces a comprehensive, decentralized approach to IoT security. IoT SecureLink offers a solution by employing secure communication protocols, encryption, and authentication to safeguard data and devices. </a:t>
            </a: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18AE424B-9980-4653-B1C1-7EB6AB2FB086}"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OBJECTIVES &amp; METHODOLOGY</a:t>
            </a:r>
          </a:p>
        </p:txBody>
      </p:sp>
      <p:sp>
        <p:nvSpPr>
          <p:cNvPr id="9219" name="Content Placeholder 2"/>
          <p:cNvSpPr>
            <a:spLocks noGrp="1"/>
          </p:cNvSpPr>
          <p:nvPr>
            <p:ph idx="1"/>
          </p:nvPr>
        </p:nvSpPr>
        <p:spPr>
          <a:xfrm>
            <a:off x="609600" y="1606731"/>
            <a:ext cx="10972800" cy="4855615"/>
          </a:xfrm>
        </p:spPr>
        <p:txBody>
          <a:bodyPr/>
          <a:lstStyle/>
          <a:p>
            <a:pPr marL="457200" lvl="0" indent="-457200" algn="just" eaLnBrk="1" hangingPunct="1">
              <a:buNone/>
            </a:pPr>
            <a:r>
              <a:rPr lang="en-US" sz="2400" b="1" dirty="0">
                <a:latin typeface="Times New Roman" pitchFamily="18" charset="0"/>
                <a:cs typeface="Times New Roman" pitchFamily="18" charset="0"/>
              </a:rPr>
              <a:t>Objectives :</a:t>
            </a:r>
          </a:p>
          <a:p>
            <a:pPr marL="457200" lvl="0" indent="-457200" algn="just" eaLnBrk="1" hangingPunct="1">
              <a:buFont typeface="+mj-lt"/>
              <a:buAutoNum type="arabicPeriod"/>
            </a:pPr>
            <a:r>
              <a:rPr lang="en-IN" sz="2400" dirty="0">
                <a:latin typeface="Times New Roman" pitchFamily="18" charset="0"/>
                <a:cs typeface="Times New Roman" pitchFamily="18" charset="0"/>
              </a:rPr>
              <a:t>Developing a Secure Communication Protocol.</a:t>
            </a:r>
          </a:p>
          <a:p>
            <a:pPr marL="457200" indent="-457200" algn="just" eaLnBrk="1" hangingPunct="1">
              <a:buFont typeface="+mj-lt"/>
              <a:buAutoNum type="arabicPeriod"/>
            </a:pPr>
            <a:r>
              <a:rPr lang="en-IN" sz="2400" dirty="0">
                <a:latin typeface="Times New Roman" pitchFamily="18" charset="0"/>
                <a:cs typeface="Times New Roman" pitchFamily="18" charset="0"/>
              </a:rPr>
              <a:t>Minimizing Latency and Bandwidth Usage.</a:t>
            </a:r>
            <a:endParaRPr lang="en-US" sz="2400" dirty="0">
              <a:latin typeface="Times New Roman" pitchFamily="18" charset="0"/>
              <a:cs typeface="Times New Roman" pitchFamily="18" charset="0"/>
            </a:endParaRPr>
          </a:p>
          <a:p>
            <a:pPr marL="457200" indent="-457200" algn="just" eaLnBrk="1" hangingPunct="1">
              <a:buFont typeface="+mj-lt"/>
              <a:buAutoNum type="arabicPeriod"/>
            </a:pPr>
            <a:r>
              <a:rPr lang="en-IN" sz="2400" dirty="0">
                <a:latin typeface="Times New Roman" pitchFamily="18" charset="0"/>
                <a:cs typeface="Times New Roman" pitchFamily="18" charset="0"/>
              </a:rPr>
              <a:t>Ensuring Scalability and Flexibility.</a:t>
            </a:r>
            <a:endParaRPr lang="en-US" sz="2400" dirty="0">
              <a:latin typeface="Times New Roman" pitchFamily="18" charset="0"/>
              <a:cs typeface="Times New Roman" pitchFamily="18" charset="0"/>
            </a:endParaRPr>
          </a:p>
          <a:p>
            <a:pPr marL="457200" indent="-457200" algn="just" eaLnBrk="1" hangingPunct="1">
              <a:buFont typeface="+mj-lt"/>
              <a:buAutoNum type="arabicPeriod"/>
            </a:pPr>
            <a:r>
              <a:rPr lang="en-IN" sz="2400" dirty="0">
                <a:latin typeface="Times New Roman" pitchFamily="18" charset="0"/>
                <a:cs typeface="Times New Roman" pitchFamily="18" charset="0"/>
              </a:rPr>
              <a:t>Enhancing Energy Efficiency.</a:t>
            </a:r>
            <a:endParaRPr lang="en-US" sz="2400" dirty="0">
              <a:latin typeface="Times New Roman" pitchFamily="18" charset="0"/>
              <a:cs typeface="Times New Roman" pitchFamily="18" charset="0"/>
            </a:endParaRPr>
          </a:p>
          <a:p>
            <a:pPr marL="457200" indent="-457200" algn="just" eaLnBrk="1" hangingPunct="1">
              <a:buFont typeface="+mj-lt"/>
              <a:buAutoNum type="arabicPeriod"/>
            </a:pPr>
            <a:r>
              <a:rPr lang="en-IN" sz="2400" dirty="0">
                <a:latin typeface="Times New Roman" pitchFamily="18" charset="0"/>
                <a:cs typeface="Times New Roman" pitchFamily="18" charset="0"/>
              </a:rPr>
              <a:t>Providing Offline Functionality.</a:t>
            </a:r>
          </a:p>
          <a:p>
            <a:pPr marL="457200" indent="-457200" algn="just" eaLnBrk="1" hangingPunct="1">
              <a:buNone/>
            </a:pPr>
            <a:endParaRPr lang="en-US" sz="2400" b="1" dirty="0">
              <a:latin typeface="Times New Roman" pitchFamily="18" charset="0"/>
              <a:cs typeface="Times New Roman" pitchFamily="18" charset="0"/>
            </a:endParaRPr>
          </a:p>
          <a:p>
            <a:pPr marL="457200" lvl="0" indent="-457200" eaLnBrk="1" hangingPunct="1">
              <a:buNone/>
            </a:pPr>
            <a:endParaRPr lang="en-US" sz="2400" dirty="0"/>
          </a:p>
          <a:p>
            <a:pPr eaLnBrk="1" hangingPunct="1">
              <a:buNone/>
            </a:pPr>
            <a:endParaRPr lang="en-US" sz="24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B21ABA94-4E5E-44A2-AB02-054134BB480C}"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87384"/>
            <a:ext cx="10972800" cy="5995850"/>
          </a:xfrm>
        </p:spPr>
        <p:txBody>
          <a:bodyPr/>
          <a:lstStyle/>
          <a:p>
            <a:pPr marL="457200" indent="-457200" algn="just" eaLnBrk="1" hangingPunct="1">
              <a:buNone/>
            </a:pPr>
            <a:r>
              <a:rPr lang="en-IN" sz="2400" b="1" dirty="0">
                <a:latin typeface="Times New Roman" pitchFamily="18" charset="0"/>
                <a:cs typeface="Times New Roman" pitchFamily="18" charset="0"/>
              </a:rPr>
              <a:t>Methodology :</a:t>
            </a:r>
          </a:p>
          <a:p>
            <a:pPr algn="just"/>
            <a:r>
              <a:rPr lang="en-US" sz="2400" dirty="0">
                <a:latin typeface="Times New Roman" pitchFamily="18" charset="0"/>
                <a:cs typeface="Times New Roman" pitchFamily="18" charset="0"/>
              </a:rPr>
              <a:t>Peer-to-Peer Communication: Using ESP-NOW, devices communicate directly without intermediaries, reducing dependency on external networks and minimizing attack surfaces.</a:t>
            </a:r>
          </a:p>
          <a:p>
            <a:pPr algn="just"/>
            <a:r>
              <a:rPr lang="en-US" sz="2400" dirty="0">
                <a:latin typeface="Times New Roman" pitchFamily="18" charset="0"/>
                <a:cs typeface="Times New Roman" pitchFamily="18" charset="0"/>
              </a:rPr>
              <a:t>Encryption and Security: A 16-byte encryption key is used to secure data transmission. Device communication is restricted to whitelisted MAC addresses to prevent unauthorized access. </a:t>
            </a:r>
          </a:p>
          <a:p>
            <a:pPr algn="just"/>
            <a:r>
              <a:rPr lang="en-US" sz="2400" dirty="0">
                <a:latin typeface="Times New Roman" pitchFamily="18" charset="0"/>
                <a:cs typeface="Times New Roman" pitchFamily="18" charset="0"/>
              </a:rPr>
              <a:t>Chunk-Based Transmission: Large data, such as images, is divided into manageable chunks, ensuring efficient transmission while maintaining data integrity. </a:t>
            </a:r>
          </a:p>
          <a:p>
            <a:pPr algn="just"/>
            <a:r>
              <a:rPr lang="en-US" sz="2400" dirty="0">
                <a:latin typeface="Times New Roman" pitchFamily="18" charset="0"/>
                <a:cs typeface="Times New Roman" pitchFamily="18" charset="0"/>
              </a:rPr>
              <a:t>Offline Capability: The system operates without requiring internet connectivity, ensuring functionality in remote or offline environments. </a:t>
            </a:r>
          </a:p>
          <a:p>
            <a:pPr algn="just"/>
            <a:r>
              <a:rPr lang="en-US" sz="2400" dirty="0">
                <a:latin typeface="Times New Roman" pitchFamily="18" charset="0"/>
                <a:cs typeface="Times New Roman" pitchFamily="18" charset="0"/>
              </a:rPr>
              <a:t>Firewall Implementation: The firewall verifies device identities through MAC address whitelisting, ensuring that only trusted devices participate in the network. </a:t>
            </a:r>
          </a:p>
          <a:p>
            <a:pPr algn="just"/>
            <a:r>
              <a:rPr lang="en-US" sz="2400" dirty="0">
                <a:latin typeface="Times New Roman" pitchFamily="18" charset="0"/>
                <a:cs typeface="Times New Roman" pitchFamily="18" charset="0"/>
              </a:rPr>
              <a:t>SPIFFS Integration: Received image data is stored securely on the ESP8266’s SPIFFS (SPI Flash File System), ensuring local storage and accessibility. </a:t>
            </a:r>
            <a:endParaRPr lang="en-IN"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79939" y="406523"/>
            <a:ext cx="10972800" cy="1143000"/>
          </a:xfrm>
        </p:spPr>
        <p:txBody>
          <a:bodyPr/>
          <a:lstStyle/>
          <a:p>
            <a:pPr eaLnBrk="1" hangingPunct="1"/>
            <a:r>
              <a:rPr lang="en-US" sz="3200" b="1" dirty="0">
                <a:latin typeface="Times New Roman" pitchFamily="18" charset="0"/>
                <a:cs typeface="Times New Roman" pitchFamily="18" charset="0"/>
              </a:rPr>
              <a:t>PLAN OF EXECUTION</a:t>
            </a:r>
          </a:p>
        </p:txBody>
      </p:sp>
      <p:sp>
        <p:nvSpPr>
          <p:cNvPr id="10243" name="Content Placeholder 2"/>
          <p:cNvSpPr>
            <a:spLocks noGrp="1"/>
          </p:cNvSpPr>
          <p:nvPr>
            <p:ph idx="1"/>
          </p:nvPr>
        </p:nvSpPr>
        <p:spPr>
          <a:xfrm>
            <a:off x="609600" y="1567543"/>
            <a:ext cx="10972800" cy="4558620"/>
          </a:xfrm>
        </p:spPr>
        <p:txBody>
          <a:bodyPr/>
          <a:lstStyle/>
          <a:p>
            <a:pPr marL="457200" indent="-457200" algn="just">
              <a:buFont typeface="+mj-lt"/>
              <a:buAutoNum type="arabicPeriod"/>
            </a:pPr>
            <a:r>
              <a:rPr lang="en-US" sz="2400" b="1" dirty="0">
                <a:latin typeface="Times New Roman" pitchFamily="18" charset="0"/>
                <a:cs typeface="Times New Roman" pitchFamily="18" charset="0"/>
              </a:rPr>
              <a:t>Requirement Analysis</a:t>
            </a:r>
          </a:p>
          <a:p>
            <a:pPr marL="914400" lvl="1" indent="-457200" algn="just">
              <a:buFont typeface="Arial" pitchFamily="34" charset="0"/>
              <a:buChar char="•"/>
            </a:pPr>
            <a:r>
              <a:rPr lang="en-US" sz="2000" dirty="0">
                <a:latin typeface="Times New Roman" pitchFamily="18" charset="0"/>
                <a:cs typeface="Times New Roman" pitchFamily="18" charset="0"/>
              </a:rPr>
              <a:t>Identify security vulnerabilities in IoT communication.</a:t>
            </a:r>
          </a:p>
          <a:p>
            <a:pPr marL="914400" lvl="1" indent="-457200" algn="just">
              <a:buFont typeface="Arial" pitchFamily="34" charset="0"/>
              <a:buChar char="•"/>
            </a:pPr>
            <a:r>
              <a:rPr lang="en-US" sz="2000" dirty="0">
                <a:latin typeface="Times New Roman" pitchFamily="18" charset="0"/>
                <a:cs typeface="Times New Roman" pitchFamily="18" charset="0"/>
              </a:rPr>
              <a:t>Define encryption, authentication, and firewall mechanisms.</a:t>
            </a:r>
          </a:p>
          <a:p>
            <a:pPr marL="457200" indent="-457200" algn="just">
              <a:buFont typeface="+mj-lt"/>
              <a:buAutoNum type="arabicPeriod"/>
            </a:pPr>
            <a:r>
              <a:rPr lang="en-US" sz="2400" b="1" dirty="0">
                <a:latin typeface="Times New Roman" pitchFamily="18" charset="0"/>
                <a:cs typeface="Times New Roman" pitchFamily="18" charset="0"/>
              </a:rPr>
              <a:t>System Design &amp; Architecture</a:t>
            </a:r>
          </a:p>
          <a:p>
            <a:pPr marL="914400" lvl="1" indent="-457200" algn="just">
              <a:buFont typeface="Arial" pitchFamily="34" charset="0"/>
              <a:buChar char="•"/>
            </a:pPr>
            <a:r>
              <a:rPr lang="en-US" sz="2000" dirty="0">
                <a:latin typeface="Times New Roman" pitchFamily="18" charset="0"/>
                <a:cs typeface="Times New Roman" pitchFamily="18" charset="0"/>
              </a:rPr>
              <a:t>Develop a modular architecture for scalability.</a:t>
            </a:r>
          </a:p>
          <a:p>
            <a:pPr marL="914400" lvl="1" indent="-457200" algn="just">
              <a:buFont typeface="Arial" pitchFamily="34" charset="0"/>
              <a:buChar char="•"/>
            </a:pPr>
            <a:r>
              <a:rPr lang="en-US" sz="2000" dirty="0">
                <a:latin typeface="Times New Roman" pitchFamily="18" charset="0"/>
                <a:cs typeface="Times New Roman" pitchFamily="18" charset="0"/>
              </a:rPr>
              <a:t>Implement ESP-NOW protocol for secure peer-to-peer communication.</a:t>
            </a:r>
          </a:p>
          <a:p>
            <a:pPr marL="457200" indent="-457200" algn="just">
              <a:buFont typeface="+mj-lt"/>
              <a:buAutoNum type="arabicPeriod"/>
            </a:pPr>
            <a:r>
              <a:rPr lang="en-US" sz="2400" b="1" dirty="0">
                <a:latin typeface="Times New Roman" pitchFamily="18" charset="0"/>
                <a:cs typeface="Times New Roman" pitchFamily="18" charset="0"/>
              </a:rPr>
              <a:t>Implementation</a:t>
            </a:r>
          </a:p>
          <a:p>
            <a:pPr marL="914400" lvl="1" indent="-457200" algn="just">
              <a:buFont typeface="Arial" pitchFamily="34" charset="0"/>
              <a:buChar char="•"/>
            </a:pPr>
            <a:r>
              <a:rPr lang="en-US" sz="2000" dirty="0">
                <a:latin typeface="Times New Roman" pitchFamily="18" charset="0"/>
                <a:cs typeface="Times New Roman" pitchFamily="18" charset="0"/>
              </a:rPr>
              <a:t>Configure </a:t>
            </a:r>
            <a:r>
              <a:rPr lang="en-US" sz="2000" b="1" dirty="0">
                <a:latin typeface="Times New Roman" pitchFamily="18" charset="0"/>
                <a:cs typeface="Times New Roman" pitchFamily="18" charset="0"/>
              </a:rPr>
              <a:t>ESP8266</a:t>
            </a:r>
            <a:r>
              <a:rPr lang="en-US" sz="2000" dirty="0">
                <a:latin typeface="Times New Roman" pitchFamily="18" charset="0"/>
                <a:cs typeface="Times New Roman" pitchFamily="18" charset="0"/>
              </a:rPr>
              <a:t> devices and register trusted MAC addresses.</a:t>
            </a:r>
          </a:p>
          <a:p>
            <a:pPr marL="914400" lvl="1" indent="-457200" algn="just">
              <a:buFont typeface="Arial" pitchFamily="34" charset="0"/>
              <a:buChar char="•"/>
            </a:pPr>
            <a:r>
              <a:rPr lang="en-US" sz="2000" dirty="0">
                <a:latin typeface="Times New Roman" pitchFamily="18" charset="0"/>
                <a:cs typeface="Times New Roman" pitchFamily="18" charset="0"/>
              </a:rPr>
              <a:t>Integrate </a:t>
            </a:r>
            <a:r>
              <a:rPr lang="en-US" sz="2000" b="1" dirty="0">
                <a:latin typeface="Times New Roman" pitchFamily="18" charset="0"/>
                <a:cs typeface="Times New Roman" pitchFamily="18" charset="0"/>
              </a:rPr>
              <a:t>AES-128 encryption</a:t>
            </a:r>
            <a:r>
              <a:rPr lang="en-US" sz="2000" dirty="0">
                <a:latin typeface="Times New Roman" pitchFamily="18" charset="0"/>
                <a:cs typeface="Times New Roman" pitchFamily="18" charset="0"/>
              </a:rPr>
              <a:t> for data security.</a:t>
            </a:r>
          </a:p>
          <a:p>
            <a:pPr marL="914400" lvl="1" indent="-457200" algn="just">
              <a:buFont typeface="Arial" pitchFamily="34" charset="0"/>
              <a:buChar char="•"/>
            </a:pPr>
            <a:r>
              <a:rPr lang="en-US" sz="2000" dirty="0">
                <a:latin typeface="Times New Roman" pitchFamily="18" charset="0"/>
                <a:cs typeface="Times New Roman" pitchFamily="18" charset="0"/>
              </a:rPr>
              <a:t>Implement </a:t>
            </a:r>
            <a:r>
              <a:rPr lang="en-US" sz="2000" b="1" dirty="0">
                <a:latin typeface="Times New Roman" pitchFamily="18" charset="0"/>
                <a:cs typeface="Times New Roman" pitchFamily="18" charset="0"/>
              </a:rPr>
              <a:t>firewall rules</a:t>
            </a:r>
            <a:r>
              <a:rPr lang="en-US" sz="2000" dirty="0">
                <a:latin typeface="Times New Roman" pitchFamily="18" charset="0"/>
                <a:cs typeface="Times New Roman" pitchFamily="18" charset="0"/>
              </a:rPr>
              <a:t> to block unauthorized devices.</a:t>
            </a:r>
          </a:p>
          <a:p>
            <a:pPr algn="just" eaLnBrk="1" hangingPunct="1">
              <a:buNone/>
            </a:pP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5C960AC0-5FA2-4768-B0D1-ED468A3A937D}" type="slidenum">
              <a:rPr lang="en-US"/>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705394"/>
            <a:ext cx="10972800" cy="5420769"/>
          </a:xfrm>
        </p:spPr>
        <p:txBody>
          <a:bodyPr/>
          <a:lstStyle/>
          <a:p>
            <a:pPr algn="just">
              <a:buNone/>
            </a:pPr>
            <a:r>
              <a:rPr lang="en-US" sz="2400" b="1" dirty="0">
                <a:latin typeface="Times New Roman" pitchFamily="18" charset="0"/>
                <a:cs typeface="Times New Roman" pitchFamily="18" charset="0"/>
              </a:rPr>
              <a:t>4. Testing &amp; Optimization</a:t>
            </a:r>
          </a:p>
          <a:p>
            <a:pPr lvl="1" algn="just">
              <a:buFont typeface="Arial" pitchFamily="34" charset="0"/>
              <a:buChar char="•"/>
            </a:pPr>
            <a:r>
              <a:rPr lang="en-US" sz="2000" dirty="0">
                <a:latin typeface="Times New Roman" pitchFamily="18" charset="0"/>
                <a:cs typeface="Times New Roman" pitchFamily="18" charset="0"/>
              </a:rPr>
              <a:t>Conduct latency and security stress tests.</a:t>
            </a:r>
          </a:p>
          <a:p>
            <a:pPr lvl="1" algn="just">
              <a:buFont typeface="Arial" pitchFamily="34" charset="0"/>
              <a:buChar char="•"/>
            </a:pPr>
            <a:r>
              <a:rPr lang="en-US" sz="2000" dirty="0">
                <a:latin typeface="Times New Roman" pitchFamily="18" charset="0"/>
                <a:cs typeface="Times New Roman" pitchFamily="18" charset="0"/>
              </a:rPr>
              <a:t>Optimize MAC filtering and encryption for performance.</a:t>
            </a:r>
          </a:p>
          <a:p>
            <a:pPr algn="just">
              <a:buNone/>
            </a:pPr>
            <a:r>
              <a:rPr lang="en-US" sz="2400" b="1" dirty="0">
                <a:latin typeface="Times New Roman" pitchFamily="18" charset="0"/>
                <a:cs typeface="Times New Roman" pitchFamily="18" charset="0"/>
              </a:rPr>
              <a:t>5. Deployment &amp; Monitoring</a:t>
            </a:r>
          </a:p>
          <a:p>
            <a:pPr lvl="1" algn="just">
              <a:buFont typeface="Arial" pitchFamily="34" charset="0"/>
              <a:buChar char="•"/>
            </a:pPr>
            <a:r>
              <a:rPr lang="en-US" sz="2000" dirty="0">
                <a:latin typeface="Times New Roman" pitchFamily="18" charset="0"/>
                <a:cs typeface="Times New Roman" pitchFamily="18" charset="0"/>
              </a:rPr>
              <a:t>Deploy in a real-world IoT network.</a:t>
            </a:r>
          </a:p>
          <a:p>
            <a:pPr lvl="1" algn="just">
              <a:buFont typeface="Arial" pitchFamily="34" charset="0"/>
              <a:buChar char="•"/>
            </a:pPr>
            <a:r>
              <a:rPr lang="en-US" sz="2000" dirty="0">
                <a:latin typeface="Times New Roman" pitchFamily="18" charset="0"/>
                <a:cs typeface="Times New Roman" pitchFamily="18" charset="0"/>
              </a:rPr>
              <a:t>Monitor unauthorized access attempts and system efficiency.</a:t>
            </a:r>
          </a:p>
          <a:p>
            <a:pPr lvl="1" algn="just">
              <a:buNone/>
            </a:pPr>
            <a:endParaRPr lang="en-US" sz="2000" dirty="0"/>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11</a:t>
            </a:fld>
            <a:endParaRPr lang="en-US"/>
          </a:p>
        </p:txBody>
      </p:sp>
      <p:pic>
        <p:nvPicPr>
          <p:cNvPr id="6" name="Picture 5" descr="27.JPG"/>
          <p:cNvPicPr>
            <a:picLocks noChangeAspect="1"/>
          </p:cNvPicPr>
          <p:nvPr/>
        </p:nvPicPr>
        <p:blipFill>
          <a:blip r:embed="rId2"/>
          <a:stretch>
            <a:fillRect/>
          </a:stretch>
        </p:blipFill>
        <p:spPr>
          <a:xfrm>
            <a:off x="1957601" y="3194685"/>
            <a:ext cx="7832058" cy="31016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95943" y="274638"/>
            <a:ext cx="11321143" cy="1143000"/>
          </a:xfrm>
        </p:spPr>
        <p:txBody>
          <a:bodyPr/>
          <a:lstStyle/>
          <a:p>
            <a:pPr eaLnBrk="1" hangingPunct="1"/>
            <a:r>
              <a:rPr lang="en-US" sz="3200" b="1" dirty="0">
                <a:latin typeface="Times New Roman" pitchFamily="18" charset="0"/>
                <a:cs typeface="Times New Roman" pitchFamily="18" charset="0"/>
              </a:rPr>
              <a:t>SYSTEM REQUIREMENTS AND SPECIFICATIONS</a:t>
            </a:r>
          </a:p>
        </p:txBody>
      </p:sp>
      <p:sp>
        <p:nvSpPr>
          <p:cNvPr id="11267" name="Content Placeholder 2"/>
          <p:cNvSpPr>
            <a:spLocks noGrp="1"/>
          </p:cNvSpPr>
          <p:nvPr>
            <p:ph idx="1"/>
          </p:nvPr>
        </p:nvSpPr>
        <p:spPr>
          <a:xfrm>
            <a:off x="609600" y="1417639"/>
            <a:ext cx="10972800" cy="4824542"/>
          </a:xfrm>
        </p:spPr>
        <p:txBody>
          <a:bodyPr numCol="2"/>
          <a:lstStyle/>
          <a:p>
            <a:pPr marL="457200" indent="-457200" algn="just">
              <a:buNone/>
            </a:pPr>
            <a:r>
              <a:rPr lang="en-US" sz="2400" b="1" dirty="0">
                <a:latin typeface="Times New Roman" pitchFamily="18" charset="0"/>
                <a:cs typeface="Times New Roman" pitchFamily="18" charset="0"/>
              </a:rPr>
              <a:t>1. Hardware Requirements :</a:t>
            </a:r>
          </a:p>
          <a:p>
            <a:pPr algn="just"/>
            <a:r>
              <a:rPr lang="en-US" sz="2400" dirty="0">
                <a:latin typeface="Times New Roman" pitchFamily="18" charset="0"/>
                <a:cs typeface="Times New Roman" pitchFamily="18" charset="0"/>
              </a:rPr>
              <a:t>ESP8266 Wi-Fi Module </a:t>
            </a:r>
          </a:p>
          <a:p>
            <a:pPr algn="just"/>
            <a:r>
              <a:rPr lang="en-US" sz="2400" dirty="0">
                <a:latin typeface="Times New Roman" pitchFamily="18" charset="0"/>
                <a:cs typeface="Times New Roman" pitchFamily="18" charset="0"/>
              </a:rPr>
              <a:t>Power Supply</a:t>
            </a:r>
          </a:p>
          <a:p>
            <a:pPr algn="just"/>
            <a:r>
              <a:rPr lang="en-US" sz="2400" dirty="0">
                <a:latin typeface="Times New Roman" pitchFamily="18" charset="0"/>
                <a:cs typeface="Times New Roman" pitchFamily="18" charset="0"/>
              </a:rPr>
              <a:t>Serial Communication Interface  </a:t>
            </a:r>
          </a:p>
          <a:p>
            <a:pPr algn="just"/>
            <a:r>
              <a:rPr lang="en-IN" sz="2400" dirty="0">
                <a:latin typeface="Times New Roman" pitchFamily="18" charset="0"/>
                <a:cs typeface="Times New Roman" pitchFamily="18" charset="0"/>
              </a:rPr>
              <a:t>Cable and connectors</a:t>
            </a:r>
            <a:endParaRPr lang="en-US" sz="2400" dirty="0">
              <a:latin typeface="Times New Roman" pitchFamily="18" charset="0"/>
              <a:cs typeface="Times New Roman" pitchFamily="18" charset="0"/>
            </a:endParaRPr>
          </a:p>
          <a:p>
            <a:pPr marL="457200" indent="-457200" algn="just">
              <a:buNone/>
            </a:pPr>
            <a:r>
              <a:rPr lang="en-US" sz="2400" b="1" dirty="0">
                <a:latin typeface="Times New Roman" pitchFamily="18" charset="0"/>
                <a:cs typeface="Times New Roman" pitchFamily="18" charset="0"/>
              </a:rPr>
              <a:t>2. Software Requirements:</a:t>
            </a:r>
          </a:p>
          <a:p>
            <a:pPr algn="just"/>
            <a:r>
              <a:rPr lang="en-US" sz="2400" dirty="0">
                <a:latin typeface="Times New Roman" pitchFamily="18" charset="0"/>
                <a:cs typeface="Times New Roman" pitchFamily="18" charset="0"/>
              </a:rPr>
              <a:t>Arduino IDE (v1.8.19 or later) </a:t>
            </a:r>
          </a:p>
          <a:p>
            <a:pPr algn="just"/>
            <a:r>
              <a:rPr lang="en-US" sz="2400" dirty="0">
                <a:latin typeface="Times New Roman" pitchFamily="18" charset="0"/>
                <a:cs typeface="Times New Roman" pitchFamily="18" charset="0"/>
              </a:rPr>
              <a:t> ESP-NOW Library </a:t>
            </a: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Encryption Libraries</a:t>
            </a:r>
          </a:p>
          <a:p>
            <a:pPr algn="just"/>
            <a:r>
              <a:rPr lang="en-IN" sz="2400" dirty="0">
                <a:latin typeface="Times New Roman" pitchFamily="18" charset="0"/>
                <a:cs typeface="Times New Roman" pitchFamily="18" charset="0"/>
              </a:rPr>
              <a:t>Operating Systems</a:t>
            </a: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eaLnBrk="1" hangingPunct="1">
              <a:buFont typeface="Arial" charset="0"/>
              <a:buNone/>
            </a:pPr>
            <a:endParaRPr lang="en-US" sz="24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D285628A-1F22-47FD-9A8D-DF8F51CE94F4}"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itchFamily="18" charset="0"/>
                <a:cs typeface="Times New Roman" pitchFamily="18" charset="0"/>
              </a:rPr>
              <a:t>ANALYSIS</a:t>
            </a:r>
            <a:endParaRPr lang="en-US" sz="3200" dirty="0"/>
          </a:p>
        </p:txBody>
      </p:sp>
      <p:sp>
        <p:nvSpPr>
          <p:cNvPr id="3" name="Content Placeholder 2"/>
          <p:cNvSpPr>
            <a:spLocks noGrp="1"/>
          </p:cNvSpPr>
          <p:nvPr>
            <p:ph idx="1"/>
          </p:nvPr>
        </p:nvSpPr>
        <p:spPr>
          <a:xfrm>
            <a:off x="609600" y="1358536"/>
            <a:ext cx="10972800" cy="4767627"/>
          </a:xfrm>
        </p:spPr>
        <p:txBody>
          <a:bodyPr/>
          <a:lstStyle/>
          <a:p>
            <a:pPr algn="just"/>
            <a:r>
              <a:rPr lang="en-US" sz="2400" b="1" dirty="0">
                <a:latin typeface="Times New Roman" pitchFamily="18" charset="0"/>
                <a:cs typeface="Times New Roman" pitchFamily="18" charset="0"/>
              </a:rPr>
              <a:t>Security Enhancements</a:t>
            </a:r>
          </a:p>
          <a:p>
            <a:pPr lvl="1" algn="just"/>
            <a:r>
              <a:rPr lang="en-US" sz="2000" b="1" dirty="0">
                <a:latin typeface="Times New Roman" pitchFamily="18" charset="0"/>
                <a:cs typeface="Times New Roman" pitchFamily="18" charset="0"/>
              </a:rPr>
              <a:t>AES-128 Encryption</a:t>
            </a:r>
            <a:r>
              <a:rPr lang="en-US" sz="2000" dirty="0">
                <a:latin typeface="Times New Roman" pitchFamily="18" charset="0"/>
                <a:cs typeface="Times New Roman" pitchFamily="18" charset="0"/>
              </a:rPr>
              <a:t> – Ensures secure data transmission.</a:t>
            </a:r>
          </a:p>
          <a:p>
            <a:pPr lvl="1" algn="just"/>
            <a:r>
              <a:rPr lang="en-US" sz="2000" b="1" dirty="0">
                <a:latin typeface="Times New Roman" pitchFamily="18" charset="0"/>
                <a:cs typeface="Times New Roman" pitchFamily="18" charset="0"/>
              </a:rPr>
              <a:t>MAC Address Filtering</a:t>
            </a:r>
            <a:r>
              <a:rPr lang="en-US" sz="2000" dirty="0">
                <a:latin typeface="Times New Roman" pitchFamily="18" charset="0"/>
                <a:cs typeface="Times New Roman" pitchFamily="18" charset="0"/>
              </a:rPr>
              <a:t> – Restricts unauthorized device access.</a:t>
            </a:r>
          </a:p>
          <a:p>
            <a:pPr lvl="1" algn="just"/>
            <a:r>
              <a:rPr lang="en-US" sz="2000" b="1" dirty="0">
                <a:latin typeface="Times New Roman" pitchFamily="18" charset="0"/>
                <a:cs typeface="Times New Roman" pitchFamily="18" charset="0"/>
              </a:rPr>
              <a:t>IP Independence</a:t>
            </a:r>
            <a:r>
              <a:rPr lang="en-US" sz="2000" dirty="0">
                <a:latin typeface="Times New Roman" pitchFamily="18" charset="0"/>
                <a:cs typeface="Times New Roman" pitchFamily="18" charset="0"/>
              </a:rPr>
              <a:t> – Eliminates exposure to network-based attacks.</a:t>
            </a:r>
          </a:p>
          <a:p>
            <a:pPr algn="just"/>
            <a:r>
              <a:rPr lang="en-US" sz="2400" b="1" dirty="0">
                <a:latin typeface="Times New Roman" pitchFamily="18" charset="0"/>
                <a:cs typeface="Times New Roman" pitchFamily="18" charset="0"/>
              </a:rPr>
              <a:t>Performance &amp; Scalability</a:t>
            </a:r>
          </a:p>
          <a:p>
            <a:pPr lvl="1" algn="just"/>
            <a:r>
              <a:rPr lang="en-US" sz="2000" b="1" dirty="0">
                <a:latin typeface="Times New Roman" pitchFamily="18" charset="0"/>
                <a:cs typeface="Times New Roman" pitchFamily="18" charset="0"/>
              </a:rPr>
              <a:t>Handles 50+ Devices</a:t>
            </a:r>
            <a:r>
              <a:rPr lang="en-US" sz="2000" dirty="0">
                <a:latin typeface="Times New Roman" pitchFamily="18" charset="0"/>
                <a:cs typeface="Times New Roman" pitchFamily="18" charset="0"/>
              </a:rPr>
              <a:t> – Without performance degradation.</a:t>
            </a:r>
          </a:p>
          <a:p>
            <a:pPr lvl="1" algn="just"/>
            <a:r>
              <a:rPr lang="en-US" sz="2000" b="1" dirty="0">
                <a:latin typeface="Times New Roman" pitchFamily="18" charset="0"/>
                <a:cs typeface="Times New Roman" pitchFamily="18" charset="0"/>
              </a:rPr>
              <a:t>Decentralized Architecture</a:t>
            </a:r>
            <a:r>
              <a:rPr lang="en-US" sz="2000" dirty="0">
                <a:latin typeface="Times New Roman" pitchFamily="18" charset="0"/>
                <a:cs typeface="Times New Roman" pitchFamily="18" charset="0"/>
              </a:rPr>
              <a:t> – No reliance on cloud servers.</a:t>
            </a:r>
          </a:p>
          <a:p>
            <a:pPr lvl="1" algn="just"/>
            <a:r>
              <a:rPr lang="en-US" sz="2000" b="1" dirty="0">
                <a:latin typeface="Times New Roman" pitchFamily="18" charset="0"/>
                <a:cs typeface="Times New Roman" pitchFamily="18" charset="0"/>
              </a:rPr>
              <a:t>Efficient Data Transmission</a:t>
            </a:r>
            <a:r>
              <a:rPr lang="en-US" sz="2000" dirty="0">
                <a:latin typeface="Times New Roman" pitchFamily="18" charset="0"/>
                <a:cs typeface="Times New Roman" pitchFamily="18" charset="0"/>
              </a:rPr>
              <a:t> – Chunk-based transfer for large files.</a:t>
            </a:r>
          </a:p>
          <a:p>
            <a:pPr algn="just"/>
            <a:r>
              <a:rPr lang="en-US" sz="2400" b="1" dirty="0">
                <a:latin typeface="Times New Roman" pitchFamily="18" charset="0"/>
                <a:cs typeface="Times New Roman" pitchFamily="18" charset="0"/>
              </a:rPr>
              <a:t>Cost &amp; Latency Benefits</a:t>
            </a:r>
          </a:p>
          <a:p>
            <a:pPr lvl="1" algn="just"/>
            <a:r>
              <a:rPr lang="en-US" sz="2000" b="1" dirty="0">
                <a:latin typeface="Times New Roman" pitchFamily="18" charset="0"/>
                <a:cs typeface="Times New Roman" pitchFamily="18" charset="0"/>
              </a:rPr>
              <a:t>Low-Cost Hardware</a:t>
            </a:r>
            <a:r>
              <a:rPr lang="en-US" sz="2000" dirty="0">
                <a:latin typeface="Times New Roman" pitchFamily="18" charset="0"/>
                <a:cs typeface="Times New Roman" pitchFamily="18" charset="0"/>
              </a:rPr>
              <a:t> – Uses ESP8266, eliminating cloud expenses.</a:t>
            </a:r>
          </a:p>
          <a:p>
            <a:pPr lvl="1" algn="just"/>
            <a:r>
              <a:rPr lang="en-US" sz="2000" b="1" dirty="0">
                <a:latin typeface="Times New Roman" pitchFamily="18" charset="0"/>
                <a:cs typeface="Times New Roman" pitchFamily="18" charset="0"/>
              </a:rPr>
              <a:t>80% Lower Latency</a:t>
            </a:r>
            <a:r>
              <a:rPr lang="en-US" sz="2000" dirty="0">
                <a:latin typeface="Times New Roman" pitchFamily="18" charset="0"/>
                <a:cs typeface="Times New Roman" pitchFamily="18" charset="0"/>
              </a:rPr>
              <a:t> – Compared to traditional cloud-based systems.</a:t>
            </a:r>
          </a:p>
          <a:p>
            <a:pPr marL="457200" indent="-457200" algn="just">
              <a:buNone/>
            </a:pP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005522"/>
          </a:xfrm>
        </p:spPr>
        <p:txBody>
          <a:bodyPr/>
          <a:lstStyle/>
          <a:p>
            <a:r>
              <a:rPr lang="en-IN" sz="3200" b="1" dirty="0">
                <a:latin typeface="Times New Roman" pitchFamily="18" charset="0"/>
                <a:cs typeface="Times New Roman" pitchFamily="18" charset="0"/>
              </a:rPr>
              <a:t>DESIGN</a:t>
            </a:r>
            <a:endParaRPr lang="en-US" sz="32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14</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026440" y="1554322"/>
            <a:ext cx="5764863" cy="4323647"/>
          </a:xfrm>
          <a:prstGeom prst="rect">
            <a:avLst/>
          </a:prstGeom>
          <a:noFill/>
          <a:ln w="9525">
            <a:noFill/>
            <a:miter lim="800000"/>
            <a:headEnd/>
            <a:tailEnd/>
          </a:ln>
          <a:effectLst/>
        </p:spPr>
      </p:pic>
      <p:sp>
        <p:nvSpPr>
          <p:cNvPr id="7" name="TextBox 6"/>
          <p:cNvSpPr txBox="1"/>
          <p:nvPr/>
        </p:nvSpPr>
        <p:spPr>
          <a:xfrm>
            <a:off x="4376057" y="5956663"/>
            <a:ext cx="3211200" cy="369332"/>
          </a:xfrm>
          <a:prstGeom prst="rect">
            <a:avLst/>
          </a:prstGeom>
          <a:noFill/>
        </p:spPr>
        <p:txBody>
          <a:bodyPr wrap="none" rtlCol="0">
            <a:spAutoFit/>
          </a:bodyPr>
          <a:lstStyle/>
          <a:p>
            <a:r>
              <a:rPr lang="en-IN" dirty="0"/>
              <a:t>Figure.1. System Architecture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034" y="640080"/>
            <a:ext cx="10972800" cy="5630091"/>
          </a:xfrm>
        </p:spPr>
        <p:txBody>
          <a:bodyPr/>
          <a:lstStyle/>
          <a:p>
            <a:pPr>
              <a:buNone/>
            </a:pPr>
            <a:endParaRPr lang="en-IN" sz="2400" b="1" dirty="0">
              <a:latin typeface="Times New Roman" pitchFamily="18" charset="0"/>
              <a:cs typeface="Times New Roman" pitchFamily="18" charset="0"/>
            </a:endParaRPr>
          </a:p>
          <a:p>
            <a:pPr>
              <a:buNone/>
            </a:pPr>
            <a:endParaRPr lang="en-US" sz="24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15</a:t>
            </a:fld>
            <a:endParaRPr lang="en-US"/>
          </a:p>
        </p:txBody>
      </p:sp>
      <p:pic>
        <p:nvPicPr>
          <p:cNvPr id="6" name="Image 45"/>
          <p:cNvPicPr/>
          <p:nvPr/>
        </p:nvPicPr>
        <p:blipFill>
          <a:blip r:embed="rId2" cstate="print"/>
          <a:stretch>
            <a:fillRect/>
          </a:stretch>
        </p:blipFill>
        <p:spPr>
          <a:xfrm>
            <a:off x="2704011" y="1267097"/>
            <a:ext cx="6152607" cy="4219303"/>
          </a:xfrm>
          <a:prstGeom prst="rect">
            <a:avLst/>
          </a:prstGeom>
          <a:ln>
            <a:solidFill>
              <a:schemeClr val="tx1"/>
            </a:solidFill>
          </a:ln>
        </p:spPr>
      </p:pic>
      <p:sp>
        <p:nvSpPr>
          <p:cNvPr id="8" name="TextBox 7"/>
          <p:cNvSpPr txBox="1"/>
          <p:nvPr/>
        </p:nvSpPr>
        <p:spPr>
          <a:xfrm>
            <a:off x="4376058" y="5682344"/>
            <a:ext cx="3198311" cy="369332"/>
          </a:xfrm>
          <a:prstGeom prst="rect">
            <a:avLst/>
          </a:prstGeom>
          <a:noFill/>
        </p:spPr>
        <p:txBody>
          <a:bodyPr wrap="none" rtlCol="0">
            <a:spAutoFit/>
          </a:bodyPr>
          <a:lstStyle/>
          <a:p>
            <a:r>
              <a:rPr lang="en-IN" dirty="0"/>
              <a:t>Figure .2. Data Flow Diagram</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82881"/>
            <a:ext cx="10972800" cy="6100354"/>
          </a:xfrm>
        </p:spPr>
        <p:txBody>
          <a:bodyPr/>
          <a:lstStyle/>
          <a:p>
            <a:pPr marL="457200" lvl="0" indent="-457200" algn="just">
              <a:buNone/>
            </a:pPr>
            <a:endParaRPr lang="en-IN" sz="2400" b="1" dirty="0">
              <a:latin typeface="Times New Roman" pitchFamily="18" charset="0"/>
              <a:cs typeface="Times New Roman" pitchFamily="18" charset="0"/>
            </a:endParaRPr>
          </a:p>
          <a:p>
            <a:pPr marL="457200" lvl="0" indent="-457200" algn="just">
              <a:buNone/>
            </a:pPr>
            <a:endParaRPr lang="en-US" sz="24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16</a:t>
            </a:fld>
            <a:endParaRPr lang="en-US"/>
          </a:p>
        </p:txBody>
      </p:sp>
      <p:pic>
        <p:nvPicPr>
          <p:cNvPr id="7" name="Picture 6" descr="light_blue_background_image (1).png"/>
          <p:cNvPicPr>
            <a:picLocks noChangeAspect="1"/>
          </p:cNvPicPr>
          <p:nvPr/>
        </p:nvPicPr>
        <p:blipFill>
          <a:blip r:embed="rId2"/>
          <a:stretch>
            <a:fillRect/>
          </a:stretch>
        </p:blipFill>
        <p:spPr>
          <a:xfrm>
            <a:off x="3135086" y="277265"/>
            <a:ext cx="6200230" cy="5509581"/>
          </a:xfrm>
          <a:prstGeom prst="rect">
            <a:avLst/>
          </a:prstGeom>
          <a:solidFill>
            <a:schemeClr val="tx1"/>
          </a:solidFill>
          <a:ln>
            <a:solidFill>
              <a:schemeClr val="tx1"/>
            </a:solidFill>
          </a:ln>
        </p:spPr>
      </p:pic>
      <p:sp>
        <p:nvSpPr>
          <p:cNvPr id="6" name="TextBox 5"/>
          <p:cNvSpPr txBox="1"/>
          <p:nvPr/>
        </p:nvSpPr>
        <p:spPr>
          <a:xfrm>
            <a:off x="4624252" y="5904411"/>
            <a:ext cx="3069771" cy="369332"/>
          </a:xfrm>
          <a:prstGeom prst="rect">
            <a:avLst/>
          </a:prstGeom>
          <a:noFill/>
        </p:spPr>
        <p:txBody>
          <a:bodyPr wrap="square" rtlCol="0">
            <a:spAutoFit/>
          </a:bodyPr>
          <a:lstStyle/>
          <a:p>
            <a:r>
              <a:rPr lang="en-IN" dirty="0">
                <a:latin typeface="Times New Roman" pitchFamily="18" charset="0"/>
                <a:cs typeface="Times New Roman" pitchFamily="18" charset="0"/>
              </a:rPr>
              <a:t>Figure.3.Activity Diagram</a:t>
            </a:r>
            <a:endParaRPr lang="en-US"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WhatsApp Image 2025-03-03 at 7.29.34 PM.jpeg"/>
          <p:cNvPicPr>
            <a:picLocks noGrp="1" noChangeAspect="1"/>
          </p:cNvPicPr>
          <p:nvPr>
            <p:ph idx="1"/>
          </p:nvPr>
        </p:nvPicPr>
        <p:blipFill>
          <a:blip r:embed="rId2"/>
          <a:stretch>
            <a:fillRect/>
          </a:stretch>
        </p:blipFill>
        <p:spPr>
          <a:xfrm>
            <a:off x="3257006" y="757192"/>
            <a:ext cx="5442857" cy="4082143"/>
          </a:xfrm>
          <a:solidFill>
            <a:schemeClr val="tx1"/>
          </a:solidFill>
          <a:ln>
            <a:solidFill>
              <a:schemeClr val="tx1"/>
            </a:solidFill>
          </a:ln>
        </p:spPr>
      </p:pic>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17</a:t>
            </a:fld>
            <a:endParaRPr lang="en-US"/>
          </a:p>
        </p:txBody>
      </p:sp>
      <p:sp>
        <p:nvSpPr>
          <p:cNvPr id="7" name="TextBox 6"/>
          <p:cNvSpPr txBox="1"/>
          <p:nvPr/>
        </p:nvSpPr>
        <p:spPr>
          <a:xfrm>
            <a:off x="3944982" y="5212080"/>
            <a:ext cx="4352474" cy="369332"/>
          </a:xfrm>
          <a:prstGeom prst="rect">
            <a:avLst/>
          </a:prstGeom>
          <a:noFill/>
        </p:spPr>
        <p:txBody>
          <a:bodyPr wrap="none" rtlCol="0">
            <a:spAutoFit/>
          </a:bodyPr>
          <a:lstStyle/>
          <a:p>
            <a:r>
              <a:rPr lang="en-IN" dirty="0">
                <a:latin typeface="Times New Roman" pitchFamily="18" charset="0"/>
                <a:cs typeface="Times New Roman" pitchFamily="18" charset="0"/>
              </a:rPr>
              <a:t>Figure .4. Network Communication Diagram</a:t>
            </a:r>
            <a:endParaRPr lang="en-US"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8686"/>
            <a:ext cx="10972800" cy="1074057"/>
          </a:xfrm>
        </p:spPr>
        <p:txBody>
          <a:bodyPr/>
          <a:lstStyle/>
          <a:p>
            <a:r>
              <a:rPr lang="en-US" sz="3200" b="1" dirty="0">
                <a:latin typeface="Times New Roman" pitchFamily="18" charset="0"/>
                <a:cs typeface="Times New Roman" pitchFamily="18" charset="0"/>
              </a:rPr>
              <a:t>IMPLEMENTATION</a:t>
            </a:r>
          </a:p>
        </p:txBody>
      </p:sp>
      <p:sp>
        <p:nvSpPr>
          <p:cNvPr id="3" name="Content Placeholder 2"/>
          <p:cNvSpPr>
            <a:spLocks noGrp="1"/>
          </p:cNvSpPr>
          <p:nvPr>
            <p:ph idx="1"/>
          </p:nvPr>
        </p:nvSpPr>
        <p:spPr>
          <a:xfrm>
            <a:off x="609600" y="1204686"/>
            <a:ext cx="10972800" cy="5181600"/>
          </a:xfrm>
        </p:spPr>
        <p:txBody>
          <a:bodyPr/>
          <a:lstStyle/>
          <a:p>
            <a:pPr algn="just"/>
            <a:r>
              <a:rPr lang="en-US" sz="2400" b="1" dirty="0">
                <a:latin typeface="Times New Roman" pitchFamily="18" charset="0"/>
                <a:cs typeface="Times New Roman" pitchFamily="18" charset="0"/>
              </a:rPr>
              <a:t>Hardware &amp; Setup</a:t>
            </a:r>
            <a:r>
              <a:rPr lang="en-US" sz="2400" dirty="0">
                <a:latin typeface="Times New Roman" pitchFamily="18" charset="0"/>
                <a:cs typeface="Times New Roman" pitchFamily="18" charset="0"/>
              </a:rPr>
              <a:t> – Configure ESP8266/ESP32 with ESP-NOW for peer-to-peer communication.</a:t>
            </a:r>
          </a:p>
          <a:p>
            <a:pPr algn="just"/>
            <a:r>
              <a:rPr lang="en-US" sz="2400" b="1" dirty="0">
                <a:latin typeface="Times New Roman" pitchFamily="18" charset="0"/>
                <a:cs typeface="Times New Roman" pitchFamily="18" charset="0"/>
              </a:rPr>
              <a:t>Security Measures</a:t>
            </a:r>
            <a:r>
              <a:rPr lang="en-US" sz="2400" dirty="0">
                <a:latin typeface="Times New Roman" pitchFamily="18" charset="0"/>
                <a:cs typeface="Times New Roman" pitchFamily="18" charset="0"/>
              </a:rPr>
              <a:t> – Implement MAC filtering, AES-128 encryption, and real-time intrusion detection.</a:t>
            </a:r>
          </a:p>
          <a:p>
            <a:pPr algn="just"/>
            <a:r>
              <a:rPr lang="en-US" sz="2400" b="1" dirty="0">
                <a:latin typeface="Times New Roman" pitchFamily="18" charset="0"/>
                <a:cs typeface="Times New Roman" pitchFamily="18" charset="0"/>
              </a:rPr>
              <a:t>Data Handling</a:t>
            </a:r>
            <a:r>
              <a:rPr lang="en-US" sz="2400" dirty="0">
                <a:latin typeface="Times New Roman" pitchFamily="18" charset="0"/>
                <a:cs typeface="Times New Roman" pitchFamily="18" charset="0"/>
              </a:rPr>
              <a:t> – Enable segmentation, checksums, SPIFFS storage, and backup mechanisms.</a:t>
            </a:r>
          </a:p>
          <a:p>
            <a:pPr algn="just"/>
            <a:r>
              <a:rPr lang="en-US" sz="2400" b="1" dirty="0">
                <a:latin typeface="Times New Roman" pitchFamily="18" charset="0"/>
                <a:cs typeface="Times New Roman" pitchFamily="18" charset="0"/>
              </a:rPr>
              <a:t>Firewall Mechanism</a:t>
            </a:r>
            <a:r>
              <a:rPr lang="en-US" sz="2400" dirty="0">
                <a:latin typeface="Times New Roman" pitchFamily="18" charset="0"/>
                <a:cs typeface="Times New Roman" pitchFamily="18" charset="0"/>
              </a:rPr>
              <a:t> – Block unauthorized devices &amp; log access attempts.</a:t>
            </a:r>
          </a:p>
          <a:p>
            <a:pPr algn="just"/>
            <a:r>
              <a:rPr lang="en-US" sz="2400" b="1" dirty="0">
                <a:latin typeface="Times New Roman" pitchFamily="18" charset="0"/>
                <a:cs typeface="Times New Roman" pitchFamily="18" charset="0"/>
              </a:rPr>
              <a:t>Front-End Development</a:t>
            </a:r>
            <a:r>
              <a:rPr lang="en-US" sz="2400" dirty="0">
                <a:latin typeface="Times New Roman" pitchFamily="18" charset="0"/>
                <a:cs typeface="Times New Roman" pitchFamily="18" charset="0"/>
              </a:rPr>
              <a:t> – Build a responsive UI with Web Serial API for real-time control.</a:t>
            </a:r>
          </a:p>
          <a:p>
            <a:pPr algn="just"/>
            <a:r>
              <a:rPr lang="en-US" sz="2400" b="1" dirty="0">
                <a:latin typeface="Times New Roman" pitchFamily="18" charset="0"/>
                <a:cs typeface="Times New Roman" pitchFamily="18" charset="0"/>
              </a:rPr>
              <a:t>OSI Layer Security</a:t>
            </a:r>
            <a:r>
              <a:rPr lang="en-US" sz="2400" dirty="0">
                <a:latin typeface="Times New Roman" pitchFamily="18" charset="0"/>
                <a:cs typeface="Times New Roman" pitchFamily="18" charset="0"/>
              </a:rPr>
              <a:t> – Apply encryption, authentication, and secure coding across layers.</a:t>
            </a:r>
          </a:p>
          <a:p>
            <a:pPr algn="just"/>
            <a:r>
              <a:rPr lang="en-US" sz="2400" b="1" dirty="0">
                <a:latin typeface="Times New Roman" pitchFamily="18" charset="0"/>
                <a:cs typeface="Times New Roman" pitchFamily="18" charset="0"/>
              </a:rPr>
              <a:t>Testing &amp; Deployment</a:t>
            </a:r>
            <a:r>
              <a:rPr lang="en-US" sz="2400" dirty="0">
                <a:latin typeface="Times New Roman" pitchFamily="18" charset="0"/>
                <a:cs typeface="Times New Roman" pitchFamily="18" charset="0"/>
              </a:rPr>
              <a:t> – Perform unit, functional, security, and UAT testing before deployment.</a:t>
            </a:r>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19680"/>
          </a:xfrm>
        </p:spPr>
        <p:txBody>
          <a:bodyPr/>
          <a:lstStyle/>
          <a:p>
            <a:r>
              <a:rPr lang="en-US" sz="3200" b="1" dirty="0">
                <a:latin typeface="Times New Roman" pitchFamily="18" charset="0"/>
                <a:cs typeface="Times New Roman" pitchFamily="18" charset="0"/>
              </a:rPr>
              <a:t>TESTING</a:t>
            </a:r>
          </a:p>
        </p:txBody>
      </p:sp>
      <p:graphicFrame>
        <p:nvGraphicFramePr>
          <p:cNvPr id="6" name="Content Placeholder 5">
            <a:extLst>
              <a:ext uri="{FF2B5EF4-FFF2-40B4-BE49-F238E27FC236}">
                <a16:creationId xmlns:a16="http://schemas.microsoft.com/office/drawing/2014/main" xmlns="" id="{F6C5C224-F26A-1816-D9E8-08580C1821FD}"/>
              </a:ext>
            </a:extLst>
          </p:cNvPr>
          <p:cNvGraphicFramePr>
            <a:graphicFrameLocks noGrp="1"/>
          </p:cNvGraphicFramePr>
          <p:nvPr>
            <p:ph idx="1"/>
            <p:extLst>
              <p:ext uri="{D42A27DB-BD31-4B8C-83A1-F6EECF244321}">
                <p14:modId xmlns:p14="http://schemas.microsoft.com/office/powerpoint/2010/main" xmlns="" val="1394063037"/>
              </p:ext>
            </p:extLst>
          </p:nvPr>
        </p:nvGraphicFramePr>
        <p:xfrm>
          <a:off x="609601" y="1129004"/>
          <a:ext cx="10475166" cy="5364378"/>
        </p:xfrm>
        <a:graphic>
          <a:graphicData uri="http://schemas.openxmlformats.org/drawingml/2006/table">
            <a:tbl>
              <a:tblPr firstRow="1" firstCol="1" bandRow="1">
                <a:tableStyleId>{5C22544A-7EE6-4342-B048-85BDC9FD1C3A}</a:tableStyleId>
              </a:tblPr>
              <a:tblGrid>
                <a:gridCol w="1946987">
                  <a:extLst>
                    <a:ext uri="{9D8B030D-6E8A-4147-A177-3AD203B41FA5}">
                      <a16:colId xmlns:a16="http://schemas.microsoft.com/office/drawing/2014/main" xmlns="" val="2917375062"/>
                    </a:ext>
                  </a:extLst>
                </a:gridCol>
                <a:gridCol w="2029613">
                  <a:extLst>
                    <a:ext uri="{9D8B030D-6E8A-4147-A177-3AD203B41FA5}">
                      <a16:colId xmlns:a16="http://schemas.microsoft.com/office/drawing/2014/main" xmlns="" val="3321516884"/>
                    </a:ext>
                  </a:extLst>
                </a:gridCol>
                <a:gridCol w="1988300">
                  <a:extLst>
                    <a:ext uri="{9D8B030D-6E8A-4147-A177-3AD203B41FA5}">
                      <a16:colId xmlns:a16="http://schemas.microsoft.com/office/drawing/2014/main" xmlns="" val="1910187994"/>
                    </a:ext>
                  </a:extLst>
                </a:gridCol>
                <a:gridCol w="1988300">
                  <a:extLst>
                    <a:ext uri="{9D8B030D-6E8A-4147-A177-3AD203B41FA5}">
                      <a16:colId xmlns:a16="http://schemas.microsoft.com/office/drawing/2014/main" xmlns="" val="1419207019"/>
                    </a:ext>
                  </a:extLst>
                </a:gridCol>
                <a:gridCol w="2521966">
                  <a:extLst>
                    <a:ext uri="{9D8B030D-6E8A-4147-A177-3AD203B41FA5}">
                      <a16:colId xmlns:a16="http://schemas.microsoft.com/office/drawing/2014/main" xmlns="" val="3130602518"/>
                    </a:ext>
                  </a:extLst>
                </a:gridCol>
              </a:tblGrid>
              <a:tr h="260187">
                <a:tc>
                  <a:txBody>
                    <a:bodyPr/>
                    <a:lstStyle/>
                    <a:p>
                      <a:pPr algn="ctr">
                        <a:lnSpc>
                          <a:spcPct val="115000"/>
                        </a:lnSpc>
                        <a:buNone/>
                      </a:pPr>
                      <a:r>
                        <a:rPr lang="en-US" sz="1500" dirty="0">
                          <a:effectLst/>
                          <a:latin typeface="Times New Roman" panose="02020603050405020304" pitchFamily="18" charset="0"/>
                          <a:cs typeface="Times New Roman" panose="02020603050405020304" pitchFamily="18" charset="0"/>
                        </a:rPr>
                        <a:t>Category</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gn="ctr">
                        <a:lnSpc>
                          <a:spcPct val="115000"/>
                        </a:lnSpc>
                        <a:buNone/>
                      </a:pPr>
                      <a:r>
                        <a:rPr lang="en-US" sz="1500">
                          <a:effectLst/>
                          <a:latin typeface="Times New Roman" panose="02020603050405020304" pitchFamily="18" charset="0"/>
                          <a:cs typeface="Times New Roman" panose="02020603050405020304" pitchFamily="18" charset="0"/>
                        </a:rPr>
                        <a:t>Test Scenario</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gn="ctr">
                        <a:lnSpc>
                          <a:spcPct val="115000"/>
                        </a:lnSpc>
                        <a:buNone/>
                      </a:pPr>
                      <a:r>
                        <a:rPr lang="en-US" sz="1500">
                          <a:effectLst/>
                          <a:latin typeface="Times New Roman" panose="02020603050405020304" pitchFamily="18" charset="0"/>
                          <a:cs typeface="Times New Roman" panose="02020603050405020304" pitchFamily="18" charset="0"/>
                        </a:rPr>
                        <a:t>Expected Outcome</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gn="ctr">
                        <a:lnSpc>
                          <a:spcPct val="115000"/>
                        </a:lnSpc>
                        <a:buNone/>
                      </a:pPr>
                      <a:r>
                        <a:rPr lang="en-US" sz="1500">
                          <a:effectLst/>
                          <a:latin typeface="Times New Roman" panose="02020603050405020304" pitchFamily="18" charset="0"/>
                          <a:cs typeface="Times New Roman" panose="02020603050405020304" pitchFamily="18" charset="0"/>
                        </a:rPr>
                        <a:t>Criteria</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gn="ctr">
                        <a:lnSpc>
                          <a:spcPct val="115000"/>
                        </a:lnSpc>
                        <a:buNone/>
                      </a:pPr>
                      <a:r>
                        <a:rPr lang="en-US" sz="1500">
                          <a:effectLst/>
                          <a:latin typeface="Times New Roman" panose="02020603050405020304" pitchFamily="18" charset="0"/>
                          <a:cs typeface="Times New Roman" panose="02020603050405020304" pitchFamily="18" charset="0"/>
                        </a:rPr>
                        <a:t>Example Input/Output</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535657578"/>
                  </a:ext>
                </a:extLst>
              </a:tr>
              <a:tr h="511941">
                <a:tc>
                  <a:txBody>
                    <a:bodyPr/>
                    <a:lstStyle/>
                    <a:p>
                      <a:pPr algn="ctr">
                        <a:lnSpc>
                          <a:spcPct val="115000"/>
                        </a:lnSpc>
                        <a:buNone/>
                      </a:pPr>
                      <a:r>
                        <a:rPr lang="en-US" sz="1500" dirty="0">
                          <a:effectLst/>
                          <a:latin typeface="Times New Roman" panose="02020603050405020304" pitchFamily="18" charset="0"/>
                          <a:cs typeface="Times New Roman" panose="02020603050405020304" pitchFamily="18" charset="0"/>
                        </a:rPr>
                        <a:t>Unit Testing</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dirty="0">
                          <a:effectLst/>
                          <a:latin typeface="Times New Roman" panose="02020603050405020304" pitchFamily="18" charset="0"/>
                          <a:cs typeface="Times New Roman" panose="02020603050405020304" pitchFamily="18" charset="0"/>
                        </a:rPr>
                        <a:t>ESP-NOW messaging, SPIFFS file handling</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Data transmission and file accessibility</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No data loss, correct format</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Sent: Hello ESP, Received: Hello ESP</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910719570"/>
                  </a:ext>
                </a:extLst>
              </a:tr>
              <a:tr h="511941">
                <a:tc>
                  <a:txBody>
                    <a:bodyPr/>
                    <a:lstStyle/>
                    <a:p>
                      <a:pPr algn="ctr">
                        <a:lnSpc>
                          <a:spcPct val="115000"/>
                        </a:lnSpc>
                        <a:buNone/>
                      </a:pPr>
                      <a:r>
                        <a:rPr lang="en-US" sz="1500" dirty="0">
                          <a:effectLst/>
                          <a:latin typeface="Times New Roman" panose="02020603050405020304" pitchFamily="18" charset="0"/>
                          <a:cs typeface="Times New Roman" panose="02020603050405020304" pitchFamily="18" charset="0"/>
                        </a:rPr>
                        <a:t> </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dirty="0">
                          <a:effectLst/>
                          <a:latin typeface="Times New Roman" panose="02020603050405020304" pitchFamily="18" charset="0"/>
                          <a:cs typeface="Times New Roman" panose="02020603050405020304" pitchFamily="18" charset="0"/>
                        </a:rPr>
                        <a:t>Web Serial API, Encryption functions</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Secure data exchange with encryption</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No errors, matches input</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Input: 1234, Encrypted: Xh$#7, Decrypted: 1234</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1272830406"/>
                  </a:ext>
                </a:extLst>
              </a:tr>
              <a:tr h="778603">
                <a:tc>
                  <a:txBody>
                    <a:bodyPr/>
                    <a:lstStyle/>
                    <a:p>
                      <a:pPr algn="ctr">
                        <a:lnSpc>
                          <a:spcPct val="115000"/>
                        </a:lnSpc>
                        <a:buNone/>
                      </a:pPr>
                      <a:r>
                        <a:rPr lang="en-US" sz="1500" dirty="0">
                          <a:effectLst/>
                          <a:latin typeface="Times New Roman" panose="02020603050405020304" pitchFamily="18" charset="0"/>
                          <a:cs typeface="Times New Roman" panose="02020603050405020304" pitchFamily="18" charset="0"/>
                        </a:rPr>
                        <a:t>Validation</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Device connectivity and authentication</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dirty="0">
                          <a:effectLst/>
                          <a:latin typeface="Times New Roman" panose="02020603050405020304" pitchFamily="18" charset="0"/>
                          <a:cs typeface="Times New Roman" panose="02020603050405020304" pitchFamily="18" charset="0"/>
                        </a:rPr>
                        <a:t>Secure access, encryption integrity maintained</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Unauthorized access denied</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Invalid login: Access Denied</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488157901"/>
                  </a:ext>
                </a:extLst>
              </a:tr>
              <a:tr h="511941">
                <a:tc>
                  <a:txBody>
                    <a:bodyPr/>
                    <a:lstStyle/>
                    <a:p>
                      <a:pPr algn="ctr">
                        <a:lnSpc>
                          <a:spcPct val="115000"/>
                        </a:lnSpc>
                        <a:buNone/>
                      </a:pPr>
                      <a:r>
                        <a:rPr lang="en-US" sz="1500">
                          <a:effectLst/>
                          <a:latin typeface="Times New Roman" panose="02020603050405020304" pitchFamily="18" charset="0"/>
                          <a:cs typeface="Times New Roman" panose="02020603050405020304" pitchFamily="18" charset="0"/>
                        </a:rPr>
                        <a:t>Functional Testing</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Real-time messaging, file upload</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Instant transmission without corruption</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No delays, smooth UI</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Upload: file.bin → Status: Success</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23834964"/>
                  </a:ext>
                </a:extLst>
              </a:tr>
              <a:tr h="778603">
                <a:tc>
                  <a:txBody>
                    <a:bodyPr/>
                    <a:lstStyle/>
                    <a:p>
                      <a:pPr algn="ctr">
                        <a:lnSpc>
                          <a:spcPct val="115000"/>
                        </a:lnSpc>
                        <a:buNone/>
                      </a:pPr>
                      <a:r>
                        <a:rPr lang="en-US" sz="1500">
                          <a:effectLst/>
                          <a:latin typeface="Times New Roman" panose="02020603050405020304" pitchFamily="18" charset="0"/>
                          <a:cs typeface="Times New Roman" panose="02020603050405020304" pitchFamily="18" charset="0"/>
                        </a:rPr>
                        <a:t> </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UI responsiveness, firmware update</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Fast and reliable operation</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No lag, stable performance after update</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Button click: Response &lt;100ms</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3546384593"/>
                  </a:ext>
                </a:extLst>
              </a:tr>
              <a:tr h="511941">
                <a:tc>
                  <a:txBody>
                    <a:bodyPr/>
                    <a:lstStyle/>
                    <a:p>
                      <a:pPr algn="ctr">
                        <a:lnSpc>
                          <a:spcPct val="115000"/>
                        </a:lnSpc>
                        <a:buNone/>
                      </a:pPr>
                      <a:r>
                        <a:rPr lang="en-US" sz="1500">
                          <a:effectLst/>
                          <a:latin typeface="Times New Roman" panose="02020603050405020304" pitchFamily="18" charset="0"/>
                          <a:cs typeface="Times New Roman" panose="02020603050405020304" pitchFamily="18" charset="0"/>
                        </a:rPr>
                        <a:t>Integration Testing</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ESP8266, ESP-NOW, Web Serial API</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Seamless interaction and operation</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dirty="0">
                          <a:effectLst/>
                          <a:latin typeface="Times New Roman" panose="02020603050405020304" pitchFamily="18" charset="0"/>
                          <a:cs typeface="Times New Roman" panose="02020603050405020304" pitchFamily="18" charset="0"/>
                        </a:rPr>
                        <a:t>Stable connections, no crashes</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ESP8266 → Web Serial API: Connected</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3319445797"/>
                  </a:ext>
                </a:extLst>
              </a:tr>
              <a:tr h="778603">
                <a:tc>
                  <a:txBody>
                    <a:bodyPr/>
                    <a:lstStyle/>
                    <a:p>
                      <a:pPr algn="ctr">
                        <a:lnSpc>
                          <a:spcPct val="115000"/>
                        </a:lnSpc>
                        <a:buNone/>
                      </a:pPr>
                      <a:r>
                        <a:rPr lang="en-US" sz="1500" dirty="0">
                          <a:effectLst/>
                          <a:latin typeface="Times New Roman" panose="02020603050405020304" pitchFamily="18" charset="0"/>
                          <a:cs typeface="Times New Roman" panose="02020603050405020304" pitchFamily="18" charset="0"/>
                        </a:rPr>
                        <a:t> </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Handling network interruptions and multiple devices</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Recovers effectively and maintains connectivity</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dirty="0">
                          <a:effectLst/>
                          <a:latin typeface="Times New Roman" panose="02020603050405020304" pitchFamily="18" charset="0"/>
                          <a:cs typeface="Times New Roman" panose="02020603050405020304" pitchFamily="18" charset="0"/>
                        </a:rPr>
                        <a:t>No disconnects, no data loss</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dirty="0">
                          <a:effectLst/>
                          <a:latin typeface="Times New Roman" panose="02020603050405020304" pitchFamily="18" charset="0"/>
                          <a:cs typeface="Times New Roman" panose="02020603050405020304" pitchFamily="18" charset="0"/>
                        </a:rPr>
                        <a:t>Simulated drop → Auto-Reconnect</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673844796"/>
                  </a:ext>
                </a:extLst>
              </a:tr>
              <a:tr h="632358">
                <a:tc>
                  <a:txBody>
                    <a:bodyPr/>
                    <a:lstStyle/>
                    <a:p>
                      <a:pPr algn="ctr">
                        <a:lnSpc>
                          <a:spcPct val="115000"/>
                        </a:lnSpc>
                        <a:buNone/>
                      </a:pPr>
                      <a:r>
                        <a:rPr lang="en-US" sz="1500" dirty="0">
                          <a:effectLst/>
                          <a:latin typeface="Times New Roman" panose="02020603050405020304" pitchFamily="18" charset="0"/>
                          <a:cs typeface="Times New Roman" panose="02020603050405020304" pitchFamily="18" charset="0"/>
                        </a:rPr>
                        <a:t>User Experience</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Usability, response time, error handling</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Smooth user experience and quick response</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a:effectLst/>
                          <a:latin typeface="Times New Roman" panose="02020603050405020304" pitchFamily="18" charset="0"/>
                          <a:cs typeface="Times New Roman" panose="02020603050405020304" pitchFamily="18" charset="0"/>
                        </a:rPr>
                        <a:t>Clear error messages, user-friendly interface</a:t>
                      </a:r>
                      <a:endParaRPr lang="en-IN"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tc>
                  <a:txBody>
                    <a:bodyPr/>
                    <a:lstStyle/>
                    <a:p>
                      <a:pPr>
                        <a:lnSpc>
                          <a:spcPct val="115000"/>
                        </a:lnSpc>
                        <a:buNone/>
                      </a:pPr>
                      <a:r>
                        <a:rPr lang="en-US" sz="1500" dirty="0">
                          <a:effectLst/>
                          <a:latin typeface="Times New Roman" panose="02020603050405020304" pitchFamily="18" charset="0"/>
                          <a:cs typeface="Times New Roman" panose="02020603050405020304" pitchFamily="18" charset="0"/>
                        </a:rPr>
                        <a:t>Invalid action: Error Message Displayed</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3928" marR="43928" marT="0" marB="0"/>
                </a:tc>
                <a:extLst>
                  <a:ext uri="{0D108BD9-81ED-4DB2-BD59-A6C34878D82A}">
                    <a16:rowId xmlns:a16="http://schemas.microsoft.com/office/drawing/2014/main" xmlns="" val="3275560218"/>
                  </a:ext>
                </a:extLst>
              </a:tr>
            </a:tbl>
          </a:graphicData>
        </a:graphic>
      </p:graphicFrame>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19</a:t>
            </a:fld>
            <a:endParaRPr lang="en-US"/>
          </a:p>
        </p:txBody>
      </p:sp>
    </p:spTree>
    <p:extLst>
      <p:ext uri="{BB962C8B-B14F-4D97-AF65-F5344CB8AC3E}">
        <p14:creationId xmlns:p14="http://schemas.microsoft.com/office/powerpoint/2010/main" xmlns="" val="1993964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850777"/>
          </a:xfrm>
        </p:spPr>
        <p:txBody>
          <a:bodyPr/>
          <a:lstStyle/>
          <a:p>
            <a:r>
              <a:rPr lang="en-US" sz="3200" b="1" dirty="0">
                <a:latin typeface="Times New Roman" pitchFamily="18" charset="0"/>
                <a:cs typeface="Times New Roman" pitchFamily="18" charset="0"/>
              </a:rPr>
              <a:t>RESULTS AND DISCUSSION</a:t>
            </a:r>
            <a:endParaRPr lang="en-IN" sz="32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20</a:t>
            </a:fld>
            <a:endParaRPr lang="en-US"/>
          </a:p>
        </p:txBody>
      </p:sp>
      <p:pic>
        <p:nvPicPr>
          <p:cNvPr id="6" name="Content Placeholder 5">
            <a:extLst>
              <a:ext uri="{FF2B5EF4-FFF2-40B4-BE49-F238E27FC236}">
                <a16:creationId xmlns:a16="http://schemas.microsoft.com/office/drawing/2014/main" xmlns="" id="{07AB8ACC-875E-8697-4B2D-BD1DF0D09B43}"/>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1023258" y="1125415"/>
            <a:ext cx="4537788" cy="3403341"/>
          </a:xfrm>
          <a:prstGeom prst="rect">
            <a:avLst/>
          </a:prstGeom>
        </p:spPr>
      </p:pic>
      <p:pic>
        <p:nvPicPr>
          <p:cNvPr id="7" name="Picture 6">
            <a:extLst>
              <a:ext uri="{FF2B5EF4-FFF2-40B4-BE49-F238E27FC236}">
                <a16:creationId xmlns:a16="http://schemas.microsoft.com/office/drawing/2014/main" xmlns="" id="{AD0C75CB-B52D-4862-4D3E-3A882BA6BAC8}"/>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909248" y="2710411"/>
            <a:ext cx="4537788" cy="3403341"/>
          </a:xfrm>
          <a:prstGeom prst="rect">
            <a:avLst/>
          </a:prstGeom>
        </p:spPr>
      </p:pic>
    </p:spTree>
    <p:extLst>
      <p:ext uri="{BB962C8B-B14F-4D97-AF65-F5344CB8AC3E}">
        <p14:creationId xmlns:p14="http://schemas.microsoft.com/office/powerpoint/2010/main" xmlns="" val="2650352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1886"/>
            <a:ext cx="10972800" cy="800099"/>
          </a:xfrm>
        </p:spPr>
        <p:txBody>
          <a:bodyPr/>
          <a:lstStyle/>
          <a:p>
            <a:r>
              <a:rPr lang="en-US" sz="3200" b="1" dirty="0">
                <a:latin typeface="Times New Roman" pitchFamily="18" charset="0"/>
                <a:cs typeface="Times New Roman" pitchFamily="18" charset="0"/>
              </a:rPr>
              <a:t>CONCLUSION AND FUTURE ENHANCEMENTS</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609600" y="1030514"/>
            <a:ext cx="10972800" cy="5297714"/>
          </a:xfrm>
        </p:spPr>
        <p:txBody>
          <a:bodyPr/>
          <a:lstStyle/>
          <a:p>
            <a:pPr algn="just">
              <a:buNone/>
            </a:pPr>
            <a:r>
              <a:rPr lang="en-US" sz="2400" b="1" dirty="0">
                <a:latin typeface="Times New Roman" pitchFamily="18" charset="0"/>
                <a:cs typeface="Times New Roman" pitchFamily="18" charset="0"/>
              </a:rPr>
              <a:t>Conclusion: </a:t>
            </a:r>
          </a:p>
          <a:p>
            <a:pPr algn="just"/>
            <a:r>
              <a:rPr lang="en-US" sz="2400" dirty="0">
                <a:latin typeface="Times New Roman" pitchFamily="18" charset="0"/>
                <a:cs typeface="Times New Roman" pitchFamily="18" charset="0"/>
              </a:rPr>
              <a:t>IoT SecureLink ensures secure, efficient, and decentralized IoT communication using the ESP-NOW protocol. With encryption, authentication, and a built-in firewall, it mitigates key threats while optimizing energy and latency. Its scalability and adaptability make it a robust solution for secure IoT ecosystems.</a:t>
            </a:r>
          </a:p>
          <a:p>
            <a:pPr algn="just">
              <a:buNone/>
            </a:pPr>
            <a:r>
              <a:rPr lang="en-US" sz="2400" b="1" dirty="0">
                <a:latin typeface="Times New Roman" pitchFamily="18" charset="0"/>
                <a:cs typeface="Times New Roman" pitchFamily="18" charset="0"/>
              </a:rPr>
              <a:t>Future Enhancements :</a:t>
            </a:r>
          </a:p>
          <a:p>
            <a:pPr algn="just"/>
            <a:r>
              <a:rPr lang="en-US" sz="2400" dirty="0">
                <a:latin typeface="Times New Roman" pitchFamily="18" charset="0"/>
                <a:cs typeface="Times New Roman" pitchFamily="18" charset="0"/>
              </a:rPr>
              <a:t>Scalability for Larger Networks</a:t>
            </a:r>
          </a:p>
          <a:p>
            <a:pPr algn="just"/>
            <a:r>
              <a:rPr lang="en-US" sz="2400" dirty="0">
                <a:latin typeface="Times New Roman" pitchFamily="18" charset="0"/>
                <a:cs typeface="Times New Roman" pitchFamily="18" charset="0"/>
              </a:rPr>
              <a:t>Dynamic Firewall Rules</a:t>
            </a:r>
          </a:p>
          <a:p>
            <a:pPr algn="just"/>
            <a:r>
              <a:rPr lang="en-US" sz="2400" dirty="0">
                <a:latin typeface="Times New Roman" pitchFamily="18" charset="0"/>
                <a:cs typeface="Times New Roman" pitchFamily="18" charset="0"/>
              </a:rPr>
              <a:t>Integration with Blockchain Technology</a:t>
            </a:r>
          </a:p>
          <a:p>
            <a:pPr algn="just"/>
            <a:r>
              <a:rPr lang="en-US" sz="2400" dirty="0">
                <a:latin typeface="Times New Roman" pitchFamily="18" charset="0"/>
                <a:cs typeface="Times New Roman" pitchFamily="18" charset="0"/>
              </a:rPr>
              <a:t>Integration with AI-Powered Analytics </a:t>
            </a:r>
          </a:p>
          <a:p>
            <a:pPr algn="just"/>
            <a:r>
              <a:rPr lang="en-US" sz="2400" dirty="0">
                <a:latin typeface="Times New Roman" pitchFamily="18" charset="0"/>
                <a:cs typeface="Times New Roman" pitchFamily="18" charset="0"/>
              </a:rPr>
              <a:t>User-Friendly Interface for Configuration</a:t>
            </a:r>
          </a:p>
          <a:p>
            <a:pPr algn="just"/>
            <a:r>
              <a:rPr lang="en-US" sz="2400" dirty="0">
                <a:latin typeface="Times New Roman" pitchFamily="18" charset="0"/>
                <a:cs typeface="Times New Roman" pitchFamily="18" charset="0"/>
              </a:rPr>
              <a:t>Compliance with Industry Standards</a:t>
            </a:r>
          </a:p>
          <a:p>
            <a:pPr algn="just">
              <a:buNone/>
            </a:pPr>
            <a:endParaRPr lang="en-US" sz="2400" b="1" dirty="0">
              <a:latin typeface="Times New Roman" pitchFamily="18" charset="0"/>
              <a:cs typeface="Times New Roman" pitchFamily="18" charset="0"/>
            </a:endParaRPr>
          </a:p>
          <a:p>
            <a:pPr algn="just">
              <a:buNone/>
            </a:pPr>
            <a:endParaRPr lang="en-IN"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21</a:t>
            </a:fld>
            <a:endParaRPr lang="en-US"/>
          </a:p>
        </p:txBody>
      </p:sp>
    </p:spTree>
    <p:extLst>
      <p:ext uri="{BB962C8B-B14F-4D97-AF65-F5344CB8AC3E}">
        <p14:creationId xmlns:p14="http://schemas.microsoft.com/office/powerpoint/2010/main" xmlns="" val="406208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itchFamily="18" charset="0"/>
                <a:cs typeface="Times New Roman" pitchFamily="18" charset="0"/>
              </a:rPr>
              <a:t>BIBILOGRAPHY</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609600" y="1378858"/>
            <a:ext cx="10972800" cy="4747306"/>
          </a:xfrm>
        </p:spPr>
        <p:txBody>
          <a:bodyPr/>
          <a:lstStyle/>
          <a:p>
            <a:pPr algn="just"/>
            <a:r>
              <a:rPr lang="en-US" sz="2400" dirty="0">
                <a:latin typeface="Times New Roman" pitchFamily="18" charset="0"/>
                <a:cs typeface="Times New Roman" pitchFamily="18" charset="0"/>
              </a:rPr>
              <a:t>[1] M. Brachmann, S. L. Keoh, O. G. Morchon, and S. S. Kumar, “End-to-end transport security in the ip-based internet of things,” in 2012 21stInternational Conference on Computer Communications and Networks(ICCCN). IEEE, 2012, pp. 1–5. </a:t>
            </a:r>
          </a:p>
          <a:p>
            <a:pPr algn="just"/>
            <a:r>
              <a:rPr lang="en-US" sz="2400" dirty="0">
                <a:latin typeface="Times New Roman" pitchFamily="18" charset="0"/>
                <a:cs typeface="Times New Roman" pitchFamily="18" charset="0"/>
              </a:rPr>
              <a:t>[2] S. Babar, P. Mahalle, A. Stango, N. Prasad, and R. Prasad, “Proposed security model and threat taxonomy for the internet of things (iot),” in In-</a:t>
            </a:r>
            <a:r>
              <a:rPr lang="en-US" sz="2400" dirty="0" err="1">
                <a:latin typeface="Times New Roman" pitchFamily="18" charset="0"/>
                <a:cs typeface="Times New Roman" pitchFamily="18" charset="0"/>
              </a:rPr>
              <a:t>ternational</a:t>
            </a:r>
            <a:r>
              <a:rPr lang="en-US" sz="2400" dirty="0">
                <a:latin typeface="Times New Roman" pitchFamily="18" charset="0"/>
                <a:cs typeface="Times New Roman" pitchFamily="18" charset="0"/>
              </a:rPr>
              <a:t> Conference on Network Security and Applications. Springer,2010, pp. 420– 429.</a:t>
            </a:r>
          </a:p>
          <a:p>
            <a:pPr algn="just"/>
            <a:r>
              <a:rPr lang="en-US" sz="2400" dirty="0">
                <a:latin typeface="Times New Roman" pitchFamily="18" charset="0"/>
                <a:cs typeface="Times New Roman" pitchFamily="18" charset="0"/>
              </a:rPr>
              <a:t> [3] S. Babar, A. Stango, N. Prasad, J. Sen, and R. Prasad, “Proposed </a:t>
            </a:r>
            <a:r>
              <a:rPr lang="en-US" sz="2400" dirty="0" err="1">
                <a:latin typeface="Times New Roman" pitchFamily="18" charset="0"/>
                <a:cs typeface="Times New Roman" pitchFamily="18" charset="0"/>
              </a:rPr>
              <a:t>em</a:t>
            </a:r>
            <a:r>
              <a:rPr lang="en-US" sz="2400" dirty="0">
                <a:latin typeface="Times New Roman" pitchFamily="18" charset="0"/>
                <a:cs typeface="Times New Roman" pitchFamily="18" charset="0"/>
              </a:rPr>
              <a:t>-bedded security framework for internet of things (iot),” in Wireless Com-</a:t>
            </a:r>
            <a:r>
              <a:rPr lang="en-US" sz="2400" dirty="0" err="1">
                <a:latin typeface="Times New Roman" pitchFamily="18" charset="0"/>
                <a:cs typeface="Times New Roman" pitchFamily="18" charset="0"/>
              </a:rPr>
              <a:t>munication</a:t>
            </a:r>
            <a:r>
              <a:rPr lang="en-US" sz="2400" dirty="0">
                <a:latin typeface="Times New Roman" pitchFamily="18" charset="0"/>
                <a:cs typeface="Times New Roman" pitchFamily="18" charset="0"/>
              </a:rPr>
              <a:t>, Vehicular Technology, Information Theory and Aerospace &amp;Electronic Systems Technology (Wireless VITAE), 2011 2nd International Conference on. IEEE, 2011, pp. 1–5. </a:t>
            </a: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22</a:t>
            </a:fld>
            <a:endParaRPr lang="en-US"/>
          </a:p>
        </p:txBody>
      </p:sp>
    </p:spTree>
    <p:extLst>
      <p:ext uri="{BB962C8B-B14F-4D97-AF65-F5344CB8AC3E}">
        <p14:creationId xmlns:p14="http://schemas.microsoft.com/office/powerpoint/2010/main" xmlns="" val="3240948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91886"/>
            <a:ext cx="10972800" cy="5734277"/>
          </a:xfrm>
        </p:spPr>
        <p:txBody>
          <a:bodyPr/>
          <a:lstStyle/>
          <a:p>
            <a:pPr algn="just"/>
            <a:r>
              <a:rPr lang="en-US" sz="2400" dirty="0">
                <a:latin typeface="Times New Roman" pitchFamily="18" charset="0"/>
                <a:cs typeface="Times New Roman" pitchFamily="18" charset="0"/>
              </a:rPr>
              <a:t>[4] D. J. Cook et al., ―MavHome: An agent-based smart home,‖ IEEE    International Conference on Pervasive Computing and Communications,               San Diego, CA, USA, pp. 521-524, 2003 </a:t>
            </a:r>
          </a:p>
          <a:p>
            <a:pPr algn="just"/>
            <a:r>
              <a:rPr lang="en-US" sz="2400" dirty="0">
                <a:latin typeface="Times New Roman" pitchFamily="18" charset="0"/>
                <a:cs typeface="Times New Roman" pitchFamily="18" charset="0"/>
              </a:rPr>
              <a:t>[5] N. King, ―Smart home - A Definition,‖ Milton Keynes: Intertek Research and Testing Centre, 2003</a:t>
            </a:r>
          </a:p>
          <a:p>
            <a:pPr algn="just"/>
            <a:r>
              <a:rPr lang="en-US" sz="2400" dirty="0">
                <a:latin typeface="Times New Roman" pitchFamily="18" charset="0"/>
                <a:cs typeface="Times New Roman" pitchFamily="18" charset="0"/>
              </a:rPr>
              <a:t>[6] V. Srinivasan et al., ―Protecting your daily in-home activity information from a wireless snooping attack,‖ 10th international conference on Ubiquitous computing, pp. 202211, 2008</a:t>
            </a:r>
          </a:p>
          <a:p>
            <a:pPr algn="just"/>
            <a:r>
              <a:rPr lang="en-US" sz="2400" dirty="0">
                <a:latin typeface="Times New Roman" pitchFamily="18" charset="0"/>
                <a:cs typeface="Times New Roman" pitchFamily="18" charset="0"/>
              </a:rPr>
              <a:t>[7] S. Notra et al., ―An experimental study of security and privacy risks with emerging household appliances,‖ IEEE Conference on Communications and Network Security, pp. 79-84, 2014 </a:t>
            </a:r>
          </a:p>
          <a:p>
            <a:pPr algn="just"/>
            <a:r>
              <a:rPr lang="en-US" sz="2400" dirty="0">
                <a:latin typeface="Times New Roman" pitchFamily="18" charset="0"/>
                <a:cs typeface="Times New Roman" pitchFamily="18" charset="0"/>
              </a:rPr>
              <a:t>[8] C. Debes et al., ―Monitoring Activities of Daily Living in Smart Homes: Understanding human behavior,‖ IEEE Signal Processing Magazine, vol. 33, no. 2, pp. 81-94, 2016</a:t>
            </a:r>
            <a:endParaRPr lang="en-IN" sz="2400" dirty="0">
              <a:latin typeface="Times New Roman" pitchFamily="18" charset="0"/>
              <a:cs typeface="Times New Roman" pitchFamily="18" charset="0"/>
            </a:endParaRPr>
          </a:p>
          <a:p>
            <a:pPr algn="just"/>
            <a:endParaRPr lang="en-US" sz="2400" dirty="0"/>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3888" y="2133600"/>
            <a:ext cx="9610725" cy="3778250"/>
          </a:xfrm>
        </p:spPr>
        <p:txBody>
          <a:bodyPr rtlCol="0">
            <a:normAutofit/>
          </a:bodyPr>
          <a:lstStyle/>
          <a:p>
            <a:pPr marL="0" indent="0" eaLnBrk="1" fontAlgn="auto" hangingPunct="1">
              <a:spcAft>
                <a:spcPts val="0"/>
              </a:spcAft>
              <a:buFont typeface="Arial" pitchFamily="34" charset="0"/>
              <a:buNone/>
              <a:defRPr/>
            </a:pPr>
            <a:r>
              <a:rPr lang="en-US" sz="9600" dirty="0">
                <a:solidFill>
                  <a:schemeClr val="accent1">
                    <a:lumMod val="75000"/>
                  </a:schemeClr>
                </a:solidFill>
                <a:latin typeface="Times New Roman" panose="02020603050405020304" pitchFamily="18" charset="0"/>
                <a:cs typeface="Times New Roman" panose="02020603050405020304" pitchFamily="18" charset="0"/>
              </a:rPr>
              <a:t>   </a:t>
            </a:r>
            <a:r>
              <a:rPr lang="en-US" sz="96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 </a:t>
            </a: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729643C9-1E9F-4DD0-9B72-36FDA7689087}" type="slidenum">
              <a:rPr lang="en-US"/>
              <a:pPr>
                <a:defRPr/>
              </a:pPr>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2229</TotalTime>
  <Words>1938</Words>
  <Application>Microsoft Office PowerPoint</Application>
  <PresentationFormat>Custom</PresentationFormat>
  <Paragraphs>250</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CONTENTS</vt:lpstr>
      <vt:lpstr>                             ABSTRACT</vt:lpstr>
      <vt:lpstr>            INTRODUCTION</vt:lpstr>
      <vt:lpstr>LITERATURE SURVEY</vt:lpstr>
      <vt:lpstr>PROBLEM  IDENTIFICATION &amp; DEFINITION</vt:lpstr>
      <vt:lpstr>SIGNIFICANCE &amp; RELEVANCE OF WORK</vt:lpstr>
      <vt:lpstr>OBJECTIVES &amp; METHODOLOGY</vt:lpstr>
      <vt:lpstr>Slide 9</vt:lpstr>
      <vt:lpstr>PLAN OF EXECUTION</vt:lpstr>
      <vt:lpstr>Slide 11</vt:lpstr>
      <vt:lpstr>SYSTEM REQUIREMENTS AND SPECIFICATIONS</vt:lpstr>
      <vt:lpstr>ANALYSIS</vt:lpstr>
      <vt:lpstr>DESIGN</vt:lpstr>
      <vt:lpstr>Slide 15</vt:lpstr>
      <vt:lpstr>Slide 16</vt:lpstr>
      <vt:lpstr>Slide 17</vt:lpstr>
      <vt:lpstr>IMPLEMENTATION</vt:lpstr>
      <vt:lpstr>TESTING</vt:lpstr>
      <vt:lpstr>RESULTS AND DISCUSSION</vt:lpstr>
      <vt:lpstr>CONCLUSION AND FUTURE ENHANCEMENTS</vt:lpstr>
      <vt:lpstr>BIBILOGRAPHY</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basha</cp:lastModifiedBy>
  <cp:revision>82</cp:revision>
  <dcterms:created xsi:type="dcterms:W3CDTF">2018-02-20T14:40:21Z</dcterms:created>
  <dcterms:modified xsi:type="dcterms:W3CDTF">2025-03-12T16:41:30Z</dcterms:modified>
</cp:coreProperties>
</file>